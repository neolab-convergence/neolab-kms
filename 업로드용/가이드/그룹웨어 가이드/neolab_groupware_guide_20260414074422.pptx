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60" r:id="rId4"/>
    <p:sldId id="261" r:id="rId5"/>
    <p:sldId id="263" r:id="rId6"/>
    <p:sldId id="262" r:id="rId7"/>
    <p:sldId id="258" r:id="rId8"/>
    <p:sldId id="257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720"/>
    <a:srgbClr val="FF854D"/>
    <a:srgbClr val="FFFFFF"/>
    <a:srgbClr val="FF9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468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704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6.png"/><Relationship Id="rId3" Type="http://schemas.openxmlformats.org/officeDocument/2006/relationships/image" Target="../media/image8.png"/><Relationship Id="rId7" Type="http://schemas.openxmlformats.org/officeDocument/2006/relationships/image" Target="../media/image41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4.png"/><Relationship Id="rId5" Type="http://schemas.openxmlformats.org/officeDocument/2006/relationships/image" Target="../media/image39.png"/><Relationship Id="rId10" Type="http://schemas.openxmlformats.org/officeDocument/2006/relationships/image" Target="../media/image43.png"/><Relationship Id="rId4" Type="http://schemas.openxmlformats.org/officeDocument/2006/relationships/image" Target="../media/image9.png"/><Relationship Id="rId9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54.png"/><Relationship Id="rId5" Type="http://schemas.openxmlformats.org/officeDocument/2006/relationships/image" Target="../media/image49.png"/><Relationship Id="rId10" Type="http://schemas.openxmlformats.org/officeDocument/2006/relationships/image" Target="../media/image53.png"/><Relationship Id="rId4" Type="http://schemas.openxmlformats.org/officeDocument/2006/relationships/image" Target="../media/image48.png"/><Relationship Id="rId9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3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5" Type="http://schemas.openxmlformats.org/officeDocument/2006/relationships/image" Target="../media/image70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 rot="900000">
            <a:off x="7619695" y="-1428293"/>
            <a:ext cx="5715000" cy="9525305"/>
          </a:xfrm>
          <a:prstGeom prst="roundRect">
            <a:avLst>
              <a:gd name="adj" fmla="val 4267"/>
            </a:avLst>
          </a:prstGeom>
          <a:solidFill>
            <a:srgbClr val="F4F5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2000707"/>
            <a:ext cx="571500" cy="57607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8096098" y="2095805"/>
            <a:ext cx="3258007" cy="2686507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l="-28" r="-28"/>
          <a:stretch/>
        </p:blipFill>
        <p:spPr>
          <a:xfrm>
            <a:off x="8096098" y="2095805"/>
            <a:ext cx="3238805" cy="485546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382305" y="2857500"/>
            <a:ext cx="1524305" cy="171907"/>
          </a:xfrm>
          <a:prstGeom prst="roundRect">
            <a:avLst>
              <a:gd name="adj" fmla="val 236407"/>
            </a:avLst>
          </a:prstGeom>
          <a:solidFill>
            <a:srgbClr val="E9EC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 l="-86" r="-86"/>
          <a:stretch/>
        </p:blipFill>
        <p:spPr>
          <a:xfrm>
            <a:off x="8382305" y="3238805"/>
            <a:ext cx="2667305" cy="95098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8382305" y="3476549"/>
            <a:ext cx="2286000" cy="95098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8"/>
          <a:srcRect l="-72" r="-72"/>
          <a:stretch/>
        </p:blipFill>
        <p:spPr>
          <a:xfrm>
            <a:off x="8382305" y="3715207"/>
            <a:ext cx="1904695" cy="95098"/>
          </a:xfrm>
          <a:prstGeom prst="rect">
            <a:avLst/>
          </a:prstGeom>
        </p:spPr>
      </p:pic>
      <p:sp>
        <p:nvSpPr>
          <p:cNvPr id="12" name="Shape 4"/>
          <p:cNvSpPr/>
          <p:nvPr/>
        </p:nvSpPr>
        <p:spPr>
          <a:xfrm>
            <a:off x="8382305" y="4095598"/>
            <a:ext cx="1143000" cy="342900"/>
          </a:xfrm>
          <a:prstGeom prst="roundRect">
            <a:avLst>
              <a:gd name="adj" fmla="val 88889"/>
            </a:avLst>
          </a:prstGeom>
          <a:solidFill>
            <a:srgbClr val="FF672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5"/>
          <p:cNvSpPr/>
          <p:nvPr/>
        </p:nvSpPr>
        <p:spPr>
          <a:xfrm>
            <a:off x="8287207" y="2276856"/>
            <a:ext cx="114300" cy="114300"/>
          </a:xfrm>
          <a:prstGeom prst="ellipse">
            <a:avLst/>
          </a:prstGeom>
          <a:solidFill>
            <a:srgbClr val="FF67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6"/>
          <p:cNvSpPr/>
          <p:nvPr/>
        </p:nvSpPr>
        <p:spPr>
          <a:xfrm>
            <a:off x="8477402" y="2276856"/>
            <a:ext cx="114300" cy="114300"/>
          </a:xfrm>
          <a:prstGeom prst="ellipse">
            <a:avLst/>
          </a:prstGeom>
          <a:solidFill>
            <a:srgbClr val="DBE2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7"/>
          <p:cNvSpPr/>
          <p:nvPr/>
        </p:nvSpPr>
        <p:spPr>
          <a:xfrm>
            <a:off x="8667598" y="2276856"/>
            <a:ext cx="114300" cy="114300"/>
          </a:xfrm>
          <a:prstGeom prst="ellipse">
            <a:avLst/>
          </a:prstGeom>
          <a:solidFill>
            <a:srgbClr val="9EA2A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8"/>
          <p:cNvSpPr txBox="1"/>
          <p:nvPr/>
        </p:nvSpPr>
        <p:spPr>
          <a:xfrm>
            <a:off x="1143000" y="705002"/>
            <a:ext cx="3085186" cy="589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kern="0" spc="-75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Neo</a:t>
            </a:r>
            <a:r>
              <a:rPr lang="en-US" sz="2100" b="1" kern="0" spc="-75" dirty="0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LAB </a:t>
            </a:r>
          </a:p>
          <a:p>
            <a:r>
              <a:rPr lang="en-US" altLang="ko-KR" sz="2100" b="1" kern="0" spc="-75" dirty="0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Convergence</a:t>
            </a:r>
            <a:endParaRPr lang="en-US" sz="2100" dirty="0">
              <a:solidFill>
                <a:srgbClr val="FF6720"/>
              </a:solidFill>
            </a:endParaRPr>
          </a:p>
        </p:txBody>
      </p:sp>
      <p:sp>
        <p:nvSpPr>
          <p:cNvPr id="17" name="Text 9"/>
          <p:cNvSpPr txBox="1"/>
          <p:nvPr/>
        </p:nvSpPr>
        <p:spPr>
          <a:xfrm>
            <a:off x="1143000" y="2286000"/>
            <a:ext cx="6858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-37" dirty="0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입사자 및 임직원을 위한</a:t>
            </a:r>
            <a:endParaRPr lang="en-US" sz="1600" dirty="0"/>
          </a:p>
        </p:txBody>
      </p:sp>
      <p:sp>
        <p:nvSpPr>
          <p:cNvPr id="18" name="Text 10"/>
          <p:cNvSpPr txBox="1"/>
          <p:nvPr/>
        </p:nvSpPr>
        <p:spPr>
          <a:xfrm>
            <a:off x="1143000" y="2714854"/>
            <a:ext cx="6839712" cy="1895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50" dirty="0" err="1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그룹웨어</a:t>
            </a:r>
            <a:r>
              <a:rPr lang="en-US" sz="4200" b="1" kern="0" spc="-150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&amp; 전자결재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150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완벽 가이드</a:t>
            </a:r>
            <a:endParaRPr lang="en-US" sz="4200" dirty="0"/>
          </a:p>
        </p:txBody>
      </p:sp>
      <p:sp>
        <p:nvSpPr>
          <p:cNvPr id="19" name="Text 11"/>
          <p:cNvSpPr txBox="1"/>
          <p:nvPr/>
        </p:nvSpPr>
        <p:spPr>
          <a:xfrm>
            <a:off x="1143000" y="4953305"/>
            <a:ext cx="67437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그룹웨어 기본 환경 설정부터 전자문서 작성 및 결재 흐름까지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네오랩컨버전스 실무에 바로 적용할 수 있는 핵심 매뉴얼입니다.</a:t>
            </a:r>
            <a:endParaRPr lang="en-US" sz="1500" dirty="0"/>
          </a:p>
        </p:txBody>
      </p:sp>
      <p:sp>
        <p:nvSpPr>
          <p:cNvPr id="20" name="Text 12"/>
          <p:cNvSpPr txBox="1"/>
          <p:nvPr/>
        </p:nvSpPr>
        <p:spPr>
          <a:xfrm>
            <a:off x="1143000" y="6001207"/>
            <a:ext cx="487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38" dirty="0">
                <a:solidFill>
                  <a:srgbClr val="9EA2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Version 1.0 </a:t>
            </a:r>
            <a:r>
              <a:rPr lang="en-US" sz="1100" kern="0" spc="38" dirty="0">
                <a:solidFill>
                  <a:srgbClr val="DBE2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</a:t>
            </a:r>
            <a:r>
              <a:rPr lang="en-US" sz="1100" kern="0" spc="38" dirty="0">
                <a:solidFill>
                  <a:srgbClr val="9EA2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2026-04 </a:t>
            </a:r>
            <a:r>
              <a:rPr lang="en-US" sz="1100" kern="0" spc="38" dirty="0">
                <a:solidFill>
                  <a:srgbClr val="DBE2E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</a:t>
            </a:r>
            <a:r>
              <a:rPr lang="en-US" sz="1100" kern="0" spc="38" dirty="0">
                <a:solidFill>
                  <a:srgbClr val="9EA2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작성: </a:t>
            </a:r>
            <a:r>
              <a:rPr lang="ko-KR" altLang="en-US" sz="1100" kern="0" spc="38" dirty="0" err="1">
                <a:solidFill>
                  <a:srgbClr val="9EA2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인사총무튐</a:t>
            </a:r>
            <a:endParaRPr lang="en-US" sz="11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>
            <a:alphaModFix amt="85000"/>
          </a:blip>
          <a:srcRect/>
          <a:stretch/>
        </p:blipFill>
        <p:spPr>
          <a:xfrm>
            <a:off x="10010851" y="3534156"/>
            <a:ext cx="933602" cy="9336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761695" y="1809598"/>
            <a:ext cx="5143500" cy="443849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91402" y="1809598"/>
            <a:ext cx="5238598" cy="443849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047902" y="2095805"/>
            <a:ext cx="4572000" cy="1143000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1047902" y="3429000"/>
            <a:ext cx="4572000" cy="1238098"/>
          </a:xfrm>
          <a:prstGeom prst="roundRect">
            <a:avLst>
              <a:gd name="adj" fmla="val 9090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1047902" y="4858207"/>
            <a:ext cx="4591202" cy="1067105"/>
          </a:xfrm>
          <a:prstGeom prst="roundRect">
            <a:avLst>
              <a:gd name="adj" fmla="val 12241"/>
            </a:avLst>
          </a:prstGeom>
          <a:solidFill>
            <a:srgbClr val="FF6720">
              <a:alpha val="5000"/>
            </a:srgbClr>
          </a:solidFill>
          <a:ln w="12700">
            <a:solidFill>
              <a:srgbClr val="FF67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t="-2" b="-2"/>
          <a:stretch/>
        </p:blipFill>
        <p:spPr>
          <a:xfrm>
            <a:off x="6667805" y="2286000"/>
            <a:ext cx="4438498" cy="274320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82" r="-82"/>
          <a:stretch/>
        </p:blipFill>
        <p:spPr>
          <a:xfrm>
            <a:off x="6381598" y="4953305"/>
            <a:ext cx="4934102" cy="190195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rcRect l="-181" r="-181"/>
          <a:stretch/>
        </p:blipFill>
        <p:spPr>
          <a:xfrm>
            <a:off x="8429854" y="4990795"/>
            <a:ext cx="761695" cy="75895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rcRect t="-481" b="-481"/>
          <a:stretch/>
        </p:blipFill>
        <p:spPr>
          <a:xfrm>
            <a:off x="8715146" y="2324405"/>
            <a:ext cx="190195" cy="57607"/>
          </a:xfrm>
          <a:prstGeom prst="rect">
            <a:avLst/>
          </a:prstGeom>
        </p:spPr>
      </p:pic>
      <p:sp>
        <p:nvSpPr>
          <p:cNvPr id="13" name="Shape 5"/>
          <p:cNvSpPr/>
          <p:nvPr/>
        </p:nvSpPr>
        <p:spPr>
          <a:xfrm>
            <a:off x="7619695" y="2952598"/>
            <a:ext cx="2381098" cy="1714500"/>
          </a:xfrm>
          <a:prstGeom prst="roundRect">
            <a:avLst>
              <a:gd name="adj" fmla="val 474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54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6"/>
          <p:cNvSpPr/>
          <p:nvPr/>
        </p:nvSpPr>
        <p:spPr>
          <a:xfrm>
            <a:off x="7810805" y="3238805"/>
            <a:ext cx="2018995" cy="304495"/>
          </a:xfrm>
          <a:prstGeom prst="roundRect">
            <a:avLst>
              <a:gd name="adj" fmla="val 75075"/>
            </a:avLst>
          </a:prstGeom>
          <a:noFill/>
          <a:ln w="12700">
            <a:solidFill>
              <a:srgbClr val="CED4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7"/>
          <p:cNvSpPr/>
          <p:nvPr/>
        </p:nvSpPr>
        <p:spPr>
          <a:xfrm>
            <a:off x="7810805" y="3666744"/>
            <a:ext cx="2018995" cy="304495"/>
          </a:xfrm>
          <a:prstGeom prst="roundRect">
            <a:avLst>
              <a:gd name="adj" fmla="val 75075"/>
            </a:avLst>
          </a:prstGeom>
          <a:noFill/>
          <a:ln w="12700">
            <a:solidFill>
              <a:srgbClr val="CED4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8"/>
          <p:cNvSpPr/>
          <p:nvPr/>
        </p:nvSpPr>
        <p:spPr>
          <a:xfrm>
            <a:off x="7810805" y="4190695"/>
            <a:ext cx="2000707" cy="342900"/>
          </a:xfrm>
          <a:prstGeom prst="roundRect">
            <a:avLst>
              <a:gd name="adj" fmla="val 59259"/>
            </a:avLst>
          </a:prstGeom>
          <a:solidFill>
            <a:srgbClr val="FF67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9"/>
          <p:cNvSpPr txBox="1"/>
          <p:nvPr/>
        </p:nvSpPr>
        <p:spPr>
          <a:xfrm>
            <a:off x="7810805" y="3066898"/>
            <a:ext cx="121798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ID (Username)</a:t>
            </a:r>
            <a:endParaRPr lang="en-US" sz="800" dirty="0"/>
          </a:p>
        </p:txBody>
      </p:sp>
      <p:sp>
        <p:nvSpPr>
          <p:cNvPr id="18" name="Text 10"/>
          <p:cNvSpPr txBox="1"/>
          <p:nvPr/>
        </p:nvSpPr>
        <p:spPr>
          <a:xfrm>
            <a:off x="7810805" y="3543300"/>
            <a:ext cx="113751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비밀번호 (Password)</a:t>
            </a:r>
            <a:endParaRPr lang="en-US" sz="800" dirty="0"/>
          </a:p>
        </p:txBody>
      </p:sp>
      <p:sp>
        <p:nvSpPr>
          <p:cNvPr id="19" name="Text 11"/>
          <p:cNvSpPr txBox="1"/>
          <p:nvPr/>
        </p:nvSpPr>
        <p:spPr>
          <a:xfrm>
            <a:off x="7730338" y="4286707"/>
            <a:ext cx="216072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</a:t>
            </a:r>
            <a:endParaRPr lang="en-US" sz="900" dirty="0"/>
          </a:p>
        </p:txBody>
      </p:sp>
      <p:sp>
        <p:nvSpPr>
          <p:cNvPr id="20" name="Text 12"/>
          <p:cNvSpPr txBox="1"/>
          <p:nvPr/>
        </p:nvSpPr>
        <p:spPr>
          <a:xfrm>
            <a:off x="761695" y="571500"/>
            <a:ext cx="7965338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75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우리의 베이스캠프, 접속 가이드 </a:t>
            </a:r>
            <a:r>
              <a:rPr lang="en-US" sz="1900" b="1" kern="0" spc="-75" dirty="0">
                <a:solidFill>
                  <a:srgbClr val="9EA2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그룹웨어 로그인</a:t>
            </a:r>
            <a:endParaRPr lang="en-US" sz="2500" dirty="0"/>
          </a:p>
        </p:txBody>
      </p:sp>
      <p:sp>
        <p:nvSpPr>
          <p:cNvPr id="21" name="Text 13"/>
          <p:cNvSpPr txBox="1"/>
          <p:nvPr/>
        </p:nvSpPr>
        <p:spPr>
          <a:xfrm>
            <a:off x="761695" y="1143000"/>
            <a:ext cx="73344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-37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네오랩의 모든 업무가 시작되는 곳, 그룹웨어 접속 방법을 안내합니다.</a:t>
            </a:r>
            <a:endParaRPr lang="en-US" sz="15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rcRect l="-80" r="-80"/>
          <a:stretch/>
        </p:blipFill>
        <p:spPr>
          <a:xfrm>
            <a:off x="1285646" y="2361895"/>
            <a:ext cx="286207" cy="22860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1714500" y="2238451"/>
            <a:ext cx="3734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접속 URL</a:t>
            </a:r>
            <a:endParaRPr lang="en-US" sz="1500" dirty="0"/>
          </a:p>
        </p:txBody>
      </p:sp>
      <p:sp>
        <p:nvSpPr>
          <p:cNvPr id="24" name="Text 15"/>
          <p:cNvSpPr txBox="1"/>
          <p:nvPr/>
        </p:nvSpPr>
        <p:spPr>
          <a:xfrm>
            <a:off x="1714500" y="2619756"/>
            <a:ext cx="37344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https://gw.neolab.net</a:t>
            </a:r>
            <a:endParaRPr lang="en-US" sz="1300" dirty="0"/>
          </a:p>
        </p:txBody>
      </p:sp>
      <p:sp>
        <p:nvSpPr>
          <p:cNvPr id="25" name="Text 16"/>
          <p:cNvSpPr txBox="1"/>
          <p:nvPr/>
        </p:nvSpPr>
        <p:spPr>
          <a:xfrm>
            <a:off x="1714500" y="2885846"/>
            <a:ext cx="36960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브라우저에서도 접속 가능합니다. 즐겨찾기(북마크)에 추가해주세요!</a:t>
            </a:r>
            <a:endParaRPr lang="en-US" sz="9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rcRect l="-80" r="-80"/>
          <a:stretch/>
        </p:blipFill>
        <p:spPr>
          <a:xfrm>
            <a:off x="1285646" y="3696005"/>
            <a:ext cx="286207" cy="22860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1714500" y="3571646"/>
            <a:ext cx="3810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정보</a:t>
            </a:r>
            <a:endParaRPr lang="en-US" sz="1500" dirty="0"/>
          </a:p>
        </p:txBody>
      </p:sp>
      <p:sp>
        <p:nvSpPr>
          <p:cNvPr id="28" name="Text 18"/>
          <p:cNvSpPr txBox="1"/>
          <p:nvPr/>
        </p:nvSpPr>
        <p:spPr>
          <a:xfrm>
            <a:off x="1714500" y="3952951"/>
            <a:ext cx="37344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아이디:</a:t>
            </a:r>
            <a:r>
              <a:rPr lang="en-US" sz="1200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본인ID@neolab.net</a:t>
            </a:r>
            <a:endParaRPr lang="en-US" sz="1200" dirty="0"/>
          </a:p>
        </p:txBody>
      </p:sp>
      <p:sp>
        <p:nvSpPr>
          <p:cNvPr id="29" name="Text 19"/>
          <p:cNvSpPr txBox="1"/>
          <p:nvPr/>
        </p:nvSpPr>
        <p:spPr>
          <a:xfrm>
            <a:off x="1714500" y="4181551"/>
            <a:ext cx="37344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비밀번호:</a:t>
            </a:r>
            <a:r>
              <a:rPr lang="en-US" sz="1200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neolab123!@#</a:t>
            </a:r>
            <a:endParaRPr lang="en-US" sz="1200" dirty="0"/>
          </a:p>
        </p:txBody>
      </p:sp>
      <p:sp>
        <p:nvSpPr>
          <p:cNvPr id="30" name="Text 20"/>
          <p:cNvSpPr txBox="1"/>
          <p:nvPr/>
        </p:nvSpPr>
        <p:spPr>
          <a:xfrm>
            <a:off x="1876349" y="4410151"/>
            <a:ext cx="36484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최초 로그인 후 반드시 비밀번호를 변경해주세요.</a:t>
            </a:r>
            <a:endParaRPr lang="en-US" sz="9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714500" y="4425696"/>
            <a:ext cx="123444" cy="123444"/>
          </a:xfrm>
          <a:prstGeom prst="rect">
            <a:avLst/>
          </a:prstGeom>
        </p:spPr>
      </p:pic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12"/>
          <a:srcRect l="-361" r="-361"/>
          <a:stretch/>
        </p:blipFill>
        <p:spPr>
          <a:xfrm>
            <a:off x="1319479" y="5124298"/>
            <a:ext cx="219456" cy="22860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1714500" y="5000854"/>
            <a:ext cx="3734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 Workspace 연동</a:t>
            </a:r>
            <a:endParaRPr lang="en-US" sz="1500" dirty="0"/>
          </a:p>
        </p:txBody>
      </p:sp>
      <p:sp>
        <p:nvSpPr>
          <p:cNvPr id="34" name="Text 22"/>
          <p:cNvSpPr txBox="1"/>
          <p:nvPr/>
        </p:nvSpPr>
        <p:spPr>
          <a:xfrm>
            <a:off x="1714500" y="5381244"/>
            <a:ext cx="36960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번의 로그인으로 사내 메일, 구글 드라이브, 캘린더, 사내 메신저가 모두 완벽하게 연결됩니다.</a:t>
            </a:r>
            <a:endParaRPr lang="en-US" sz="1000" dirty="0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13">
            <a:alphaModFix amt="50000"/>
          </a:blip>
          <a:srcRect l="-57" r="-57"/>
          <a:stretch/>
        </p:blipFill>
        <p:spPr>
          <a:xfrm>
            <a:off x="7322972" y="3410559"/>
            <a:ext cx="200254" cy="228600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6838797" y="3429000"/>
            <a:ext cx="5843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 입력</a:t>
            </a:r>
            <a:endParaRPr lang="en-US" sz="1000" dirty="0"/>
          </a:p>
        </p:txBody>
      </p:sp>
      <p:sp>
        <p:nvSpPr>
          <p:cNvPr id="37" name="Text 24"/>
          <p:cNvSpPr txBox="1"/>
          <p:nvPr/>
        </p:nvSpPr>
        <p:spPr>
          <a:xfrm>
            <a:off x="7058254" y="5429707"/>
            <a:ext cx="39721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EA2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보안을 위해 공용 PC에서는 </a:t>
            </a:r>
            <a:r>
              <a:rPr lang="en-US" sz="1000" b="1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비밀번호 저장 기능</a:t>
            </a:r>
            <a:r>
              <a:rPr lang="en-US" sz="1000" dirty="0">
                <a:solidFill>
                  <a:srgbClr val="9EA2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사용하지 마시고,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9EA2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종료 시 반드시 로그아웃을 생활화해주세요.</a:t>
            </a:r>
            <a:endParaRPr lang="en-US" sz="1000" dirty="0"/>
          </a:p>
        </p:txBody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6868058" y="5465369"/>
            <a:ext cx="133502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761695" y="1809598"/>
            <a:ext cx="7276795" cy="441929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52805" y="2572207"/>
            <a:ext cx="1733702" cy="1543507"/>
          </a:xfrm>
          <a:prstGeom prst="roundRect">
            <a:avLst>
              <a:gd name="adj" fmla="val 4388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952805" y="4286707"/>
            <a:ext cx="1733702" cy="1733702"/>
          </a:xfrm>
          <a:prstGeom prst="roundRect">
            <a:avLst>
              <a:gd name="adj" fmla="val 3478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2857500" y="2572207"/>
            <a:ext cx="3258007" cy="1543507"/>
          </a:xfrm>
          <a:prstGeom prst="roundRect">
            <a:avLst>
              <a:gd name="adj" fmla="val 4388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2857500" y="4286707"/>
            <a:ext cx="3258007" cy="1733702"/>
          </a:xfrm>
          <a:prstGeom prst="roundRect">
            <a:avLst>
              <a:gd name="adj" fmla="val 3478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6286500" y="2572207"/>
            <a:ext cx="1543507" cy="1067105"/>
          </a:xfrm>
          <a:prstGeom prst="roundRect">
            <a:avLst>
              <a:gd name="adj" fmla="val 9181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6286500" y="3762756"/>
            <a:ext cx="1543507" cy="1067105"/>
          </a:xfrm>
          <a:prstGeom prst="roundRect">
            <a:avLst>
              <a:gd name="adj" fmla="val 9181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6286500" y="4953305"/>
            <a:ext cx="1543507" cy="1067105"/>
          </a:xfrm>
          <a:prstGeom prst="roundRect">
            <a:avLst>
              <a:gd name="adj" fmla="val 9181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8382305" y="1809598"/>
            <a:ext cx="3066898" cy="4401007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952805" y="1952244"/>
            <a:ext cx="12198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-37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NEOLAB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761695" y="571500"/>
            <a:ext cx="68580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75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메인 화면 지도 </a:t>
            </a:r>
            <a:r>
              <a:rPr lang="en-US" sz="1900" b="1" kern="0" spc="-75" dirty="0">
                <a:solidFill>
                  <a:srgbClr val="9EA2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꼭 알아둘 10가지 기능</a:t>
            </a:r>
            <a:endParaRPr lang="en-US" sz="2500" dirty="0"/>
          </a:p>
        </p:txBody>
      </p:sp>
      <p:sp>
        <p:nvSpPr>
          <p:cNvPr id="16" name="Text 12"/>
          <p:cNvSpPr txBox="1"/>
          <p:nvPr/>
        </p:nvSpPr>
        <p:spPr>
          <a:xfrm>
            <a:off x="761695" y="1143000"/>
            <a:ext cx="73344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-37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안정적인 업무 시작을 위해 그룹웨어 첫 화면의 주요 메뉴 위치를 확인하세요.</a:t>
            </a:r>
            <a:endParaRPr lang="en-US" sz="15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29500" y="3047695"/>
            <a:ext cx="286207" cy="2862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05549" y="4143146"/>
            <a:ext cx="286207" cy="286207"/>
          </a:xfrm>
          <a:prstGeom prst="rect">
            <a:avLst/>
          </a:prstGeom>
        </p:spPr>
      </p:pic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76695" y="5333695"/>
            <a:ext cx="286207" cy="286207"/>
          </a:xfrm>
          <a:prstGeom prst="rect">
            <a:avLst/>
          </a:prstGeom>
        </p:spPr>
      </p:pic>
      <p:sp>
        <p:nvSpPr>
          <p:cNvPr id="27" name="Shape 13"/>
          <p:cNvSpPr/>
          <p:nvPr/>
        </p:nvSpPr>
        <p:spPr>
          <a:xfrm>
            <a:off x="8572500" y="2000707"/>
            <a:ext cx="190195" cy="190195"/>
          </a:xfrm>
          <a:prstGeom prst="ellipse">
            <a:avLst/>
          </a:prstGeom>
          <a:solidFill>
            <a:srgbClr val="FF67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14"/>
          <p:cNvSpPr/>
          <p:nvPr/>
        </p:nvSpPr>
        <p:spPr>
          <a:xfrm>
            <a:off x="8534095" y="2000707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15"/>
          <p:cNvSpPr txBox="1"/>
          <p:nvPr/>
        </p:nvSpPr>
        <p:spPr>
          <a:xfrm>
            <a:off x="8858707" y="2000707"/>
            <a:ext cx="2457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상단 메뉴:</a:t>
            </a:r>
            <a:r>
              <a:rPr lang="en-US" sz="900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메일, 전자결재, 회의실 등 핵심 기능 바로가기</a:t>
            </a:r>
            <a:endParaRPr lang="en-US" sz="900" dirty="0"/>
          </a:p>
        </p:txBody>
      </p:sp>
      <p:sp>
        <p:nvSpPr>
          <p:cNvPr id="30" name="Shape 16"/>
          <p:cNvSpPr/>
          <p:nvPr/>
        </p:nvSpPr>
        <p:spPr>
          <a:xfrm>
            <a:off x="8572500" y="2429561"/>
            <a:ext cx="190195" cy="190195"/>
          </a:xfrm>
          <a:prstGeom prst="ellipse">
            <a:avLst/>
          </a:prstGeom>
          <a:solidFill>
            <a:srgbClr val="FF67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17"/>
          <p:cNvSpPr/>
          <p:nvPr/>
        </p:nvSpPr>
        <p:spPr>
          <a:xfrm>
            <a:off x="8534095" y="2429561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Text 18"/>
          <p:cNvSpPr txBox="1"/>
          <p:nvPr/>
        </p:nvSpPr>
        <p:spPr>
          <a:xfrm>
            <a:off x="8858707" y="2429561"/>
            <a:ext cx="2457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개인정보:</a:t>
            </a:r>
            <a:r>
              <a:rPr lang="en-US" sz="900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내 프로필 확인 및 메인 위젯 커스텀 설정</a:t>
            </a:r>
            <a:endParaRPr lang="en-US" sz="900" dirty="0"/>
          </a:p>
        </p:txBody>
      </p:sp>
      <p:sp>
        <p:nvSpPr>
          <p:cNvPr id="33" name="Shape 19"/>
          <p:cNvSpPr/>
          <p:nvPr/>
        </p:nvSpPr>
        <p:spPr>
          <a:xfrm>
            <a:off x="8572500" y="2859329"/>
            <a:ext cx="190195" cy="190195"/>
          </a:xfrm>
          <a:prstGeom prst="ellipse">
            <a:avLst/>
          </a:prstGeom>
          <a:solidFill>
            <a:srgbClr val="FF67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0"/>
          <p:cNvSpPr/>
          <p:nvPr/>
        </p:nvSpPr>
        <p:spPr>
          <a:xfrm>
            <a:off x="8534095" y="2859329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21"/>
          <p:cNvSpPr txBox="1"/>
          <p:nvPr/>
        </p:nvSpPr>
        <p:spPr>
          <a:xfrm>
            <a:off x="8858707" y="2859329"/>
            <a:ext cx="2457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사내 시스템:</a:t>
            </a:r>
            <a:r>
              <a:rPr lang="en-US" sz="900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더존, 비즈플레이 등 타 업무 시스템 연동 링크</a:t>
            </a:r>
            <a:endParaRPr lang="en-US" sz="900" dirty="0"/>
          </a:p>
        </p:txBody>
      </p:sp>
      <p:sp>
        <p:nvSpPr>
          <p:cNvPr id="36" name="Shape 22"/>
          <p:cNvSpPr/>
          <p:nvPr/>
        </p:nvSpPr>
        <p:spPr>
          <a:xfrm>
            <a:off x="8572500" y="3289097"/>
            <a:ext cx="190195" cy="190195"/>
          </a:xfrm>
          <a:prstGeom prst="ellipse">
            <a:avLst/>
          </a:prstGeom>
          <a:solidFill>
            <a:srgbClr val="FF67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3"/>
          <p:cNvSpPr/>
          <p:nvPr/>
        </p:nvSpPr>
        <p:spPr>
          <a:xfrm>
            <a:off x="8534095" y="3289097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Text 24"/>
          <p:cNvSpPr txBox="1"/>
          <p:nvPr/>
        </p:nvSpPr>
        <p:spPr>
          <a:xfrm>
            <a:off x="8858707" y="3289097"/>
            <a:ext cx="2457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캘린더:</a:t>
            </a:r>
            <a:r>
              <a:rPr lang="en-US" sz="900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구글 캘린더와 실시간 동기화되는 개인 일정</a:t>
            </a:r>
            <a:endParaRPr lang="en-US" sz="900" dirty="0"/>
          </a:p>
        </p:txBody>
      </p:sp>
      <p:sp>
        <p:nvSpPr>
          <p:cNvPr id="39" name="Shape 25"/>
          <p:cNvSpPr/>
          <p:nvPr/>
        </p:nvSpPr>
        <p:spPr>
          <a:xfrm>
            <a:off x="8572500" y="3717950"/>
            <a:ext cx="190195" cy="190195"/>
          </a:xfrm>
          <a:prstGeom prst="ellipse">
            <a:avLst/>
          </a:prstGeom>
          <a:solidFill>
            <a:srgbClr val="FF67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26"/>
          <p:cNvSpPr/>
          <p:nvPr/>
        </p:nvSpPr>
        <p:spPr>
          <a:xfrm>
            <a:off x="8534095" y="3717950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900" dirty="0"/>
          </a:p>
        </p:txBody>
      </p:sp>
      <p:sp>
        <p:nvSpPr>
          <p:cNvPr id="41" name="Text 27"/>
          <p:cNvSpPr txBox="1"/>
          <p:nvPr/>
        </p:nvSpPr>
        <p:spPr>
          <a:xfrm>
            <a:off x="8858707" y="3717950"/>
            <a:ext cx="2457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게시판/공지:</a:t>
            </a:r>
            <a:r>
              <a:rPr lang="en-US" sz="900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전사 공지 및 팀별 문서함 빠른 조회</a:t>
            </a:r>
            <a:endParaRPr lang="en-US" sz="900" dirty="0"/>
          </a:p>
        </p:txBody>
      </p:sp>
      <p:sp>
        <p:nvSpPr>
          <p:cNvPr id="42" name="Shape 28"/>
          <p:cNvSpPr/>
          <p:nvPr/>
        </p:nvSpPr>
        <p:spPr>
          <a:xfrm>
            <a:off x="8572500" y="4147718"/>
            <a:ext cx="190195" cy="190195"/>
          </a:xfrm>
          <a:prstGeom prst="ellipse">
            <a:avLst/>
          </a:prstGeom>
          <a:solidFill>
            <a:srgbClr val="FF67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29"/>
          <p:cNvSpPr/>
          <p:nvPr/>
        </p:nvSpPr>
        <p:spPr>
          <a:xfrm>
            <a:off x="8534095" y="4147718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900" dirty="0"/>
          </a:p>
        </p:txBody>
      </p:sp>
      <p:sp>
        <p:nvSpPr>
          <p:cNvPr id="44" name="Text 30"/>
          <p:cNvSpPr txBox="1"/>
          <p:nvPr/>
        </p:nvSpPr>
        <p:spPr>
          <a:xfrm>
            <a:off x="8858707" y="4147718"/>
            <a:ext cx="2457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직원조회:</a:t>
            </a:r>
            <a:r>
              <a:rPr lang="en-US" sz="900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임직원 연락처 및 소속 부서 빠른 검색</a:t>
            </a:r>
            <a:endParaRPr lang="en-US" sz="900" dirty="0"/>
          </a:p>
        </p:txBody>
      </p:sp>
      <p:sp>
        <p:nvSpPr>
          <p:cNvPr id="45" name="Shape 31"/>
          <p:cNvSpPr/>
          <p:nvPr/>
        </p:nvSpPr>
        <p:spPr>
          <a:xfrm>
            <a:off x="8572500" y="4577486"/>
            <a:ext cx="190195" cy="190195"/>
          </a:xfrm>
          <a:prstGeom prst="ellipse">
            <a:avLst/>
          </a:prstGeom>
          <a:solidFill>
            <a:srgbClr val="FF67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2"/>
          <p:cNvSpPr/>
          <p:nvPr/>
        </p:nvSpPr>
        <p:spPr>
          <a:xfrm>
            <a:off x="8534095" y="4577486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900" dirty="0"/>
          </a:p>
        </p:txBody>
      </p:sp>
      <p:sp>
        <p:nvSpPr>
          <p:cNvPr id="47" name="Text 33"/>
          <p:cNvSpPr txBox="1"/>
          <p:nvPr/>
        </p:nvSpPr>
        <p:spPr>
          <a:xfrm>
            <a:off x="8858707" y="4577486"/>
            <a:ext cx="279349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메일함:</a:t>
            </a:r>
            <a:r>
              <a:rPr lang="en-US" sz="900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안 읽은 새 메일과 알림 한눈에 확인</a:t>
            </a:r>
            <a:endParaRPr lang="en-US" sz="900" dirty="0"/>
          </a:p>
        </p:txBody>
      </p:sp>
      <p:sp>
        <p:nvSpPr>
          <p:cNvPr id="48" name="Shape 34"/>
          <p:cNvSpPr/>
          <p:nvPr/>
        </p:nvSpPr>
        <p:spPr>
          <a:xfrm>
            <a:off x="8572500" y="4862779"/>
            <a:ext cx="190195" cy="190195"/>
          </a:xfrm>
          <a:prstGeom prst="ellipse">
            <a:avLst/>
          </a:prstGeom>
          <a:solidFill>
            <a:srgbClr val="FF67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35"/>
          <p:cNvSpPr/>
          <p:nvPr/>
        </p:nvSpPr>
        <p:spPr>
          <a:xfrm>
            <a:off x="8534095" y="4862779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900" dirty="0"/>
          </a:p>
        </p:txBody>
      </p:sp>
      <p:sp>
        <p:nvSpPr>
          <p:cNvPr id="50" name="Text 36"/>
          <p:cNvSpPr txBox="1"/>
          <p:nvPr/>
        </p:nvSpPr>
        <p:spPr>
          <a:xfrm>
            <a:off x="8858707" y="4862779"/>
            <a:ext cx="2457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근태현황:</a:t>
            </a:r>
            <a:r>
              <a:rPr lang="en-US" sz="900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휴가 잔여일 및 부서 출장/휴가자 스케줄</a:t>
            </a:r>
            <a:endParaRPr lang="en-US" sz="900" dirty="0"/>
          </a:p>
        </p:txBody>
      </p:sp>
      <p:sp>
        <p:nvSpPr>
          <p:cNvPr id="51" name="Shape 37"/>
          <p:cNvSpPr/>
          <p:nvPr/>
        </p:nvSpPr>
        <p:spPr>
          <a:xfrm>
            <a:off x="8572500" y="5292547"/>
            <a:ext cx="190195" cy="190195"/>
          </a:xfrm>
          <a:prstGeom prst="ellipse">
            <a:avLst/>
          </a:prstGeom>
          <a:solidFill>
            <a:srgbClr val="FF67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38"/>
          <p:cNvSpPr/>
          <p:nvPr/>
        </p:nvSpPr>
        <p:spPr>
          <a:xfrm>
            <a:off x="8534095" y="5292547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900" dirty="0"/>
          </a:p>
        </p:txBody>
      </p:sp>
      <p:sp>
        <p:nvSpPr>
          <p:cNvPr id="53" name="Text 39"/>
          <p:cNvSpPr txBox="1"/>
          <p:nvPr/>
        </p:nvSpPr>
        <p:spPr>
          <a:xfrm>
            <a:off x="8858707" y="5292547"/>
            <a:ext cx="24579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드라이브:</a:t>
            </a:r>
            <a:r>
              <a:rPr lang="en-US" sz="900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공유 폴더 바로가기 및 드라이브 용량 관리</a:t>
            </a:r>
            <a:endParaRPr lang="en-US" sz="900" dirty="0"/>
          </a:p>
        </p:txBody>
      </p:sp>
      <p:sp>
        <p:nvSpPr>
          <p:cNvPr id="54" name="Shape 40"/>
          <p:cNvSpPr/>
          <p:nvPr/>
        </p:nvSpPr>
        <p:spPr>
          <a:xfrm>
            <a:off x="8572500" y="5722315"/>
            <a:ext cx="190195" cy="190195"/>
          </a:xfrm>
          <a:prstGeom prst="ellipse">
            <a:avLst/>
          </a:prstGeom>
          <a:solidFill>
            <a:srgbClr val="FF67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41"/>
          <p:cNvSpPr/>
          <p:nvPr/>
        </p:nvSpPr>
        <p:spPr>
          <a:xfrm>
            <a:off x="8534095" y="5722315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900" dirty="0"/>
          </a:p>
        </p:txBody>
      </p:sp>
      <p:sp>
        <p:nvSpPr>
          <p:cNvPr id="56" name="Text 42"/>
          <p:cNvSpPr txBox="1"/>
          <p:nvPr/>
        </p:nvSpPr>
        <p:spPr>
          <a:xfrm>
            <a:off x="8858707" y="5722315"/>
            <a:ext cx="292150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이벤트 축하:</a:t>
            </a:r>
            <a:r>
              <a:rPr lang="en-US" sz="900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이달의 생일 및 신규 입사자 알림</a:t>
            </a:r>
            <a:endParaRPr lang="en-US" sz="900" dirty="0"/>
          </a:p>
        </p:txBody>
      </p:sp>
      <p:sp>
        <p:nvSpPr>
          <p:cNvPr id="63" name="Text 49"/>
          <p:cNvSpPr txBox="1"/>
          <p:nvPr/>
        </p:nvSpPr>
        <p:spPr>
          <a:xfrm>
            <a:off x="7391095" y="3066898"/>
            <a:ext cx="3621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100" dirty="0"/>
          </a:p>
        </p:txBody>
      </p:sp>
      <p:sp>
        <p:nvSpPr>
          <p:cNvPr id="64" name="Text 50"/>
          <p:cNvSpPr txBox="1"/>
          <p:nvPr/>
        </p:nvSpPr>
        <p:spPr>
          <a:xfrm>
            <a:off x="6867144" y="4162349"/>
            <a:ext cx="3621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100" dirty="0"/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F36E38F5-7254-0499-540E-293BC331328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1695" y="1851856"/>
            <a:ext cx="7239305" cy="501401"/>
          </a:xfrm>
          <a:prstGeom prst="rect">
            <a:avLst/>
          </a:prstGeom>
        </p:spPr>
      </p:pic>
      <p:sp>
        <p:nvSpPr>
          <p:cNvPr id="65" name="Text 51"/>
          <p:cNvSpPr txBox="1"/>
          <p:nvPr/>
        </p:nvSpPr>
        <p:spPr>
          <a:xfrm>
            <a:off x="6439205" y="5352898"/>
            <a:ext cx="3621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1100" dirty="0"/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2393E0D3-919D-C033-515B-0262F63AC2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" y="2591712"/>
            <a:ext cx="1590599" cy="1436524"/>
          </a:xfrm>
          <a:prstGeom prst="rect">
            <a:avLst/>
          </a:prstGeom>
        </p:spPr>
      </p:pic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47902" y="2667305"/>
            <a:ext cx="286207" cy="286207"/>
          </a:xfrm>
          <a:prstGeom prst="rect">
            <a:avLst/>
          </a:prstGeom>
        </p:spPr>
      </p:pic>
      <p:sp>
        <p:nvSpPr>
          <p:cNvPr id="58" name="Text 44"/>
          <p:cNvSpPr txBox="1"/>
          <p:nvPr/>
        </p:nvSpPr>
        <p:spPr>
          <a:xfrm>
            <a:off x="1009498" y="2686507"/>
            <a:ext cx="3621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100" dirty="0"/>
          </a:p>
        </p:txBody>
      </p:sp>
      <p:pic>
        <p:nvPicPr>
          <p:cNvPr id="74" name="그림 73">
            <a:extLst>
              <a:ext uri="{FF2B5EF4-FFF2-40B4-BE49-F238E27FC236}">
                <a16:creationId xmlns:a16="http://schemas.microsoft.com/office/drawing/2014/main" id="{E27404B6-F9E5-AD10-CB21-9B3370229E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5150" y="4460633"/>
            <a:ext cx="3172867" cy="1385850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92148EE1-EF56-9E17-3B90-371126D2F9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1848" y="4464885"/>
            <a:ext cx="1655615" cy="1481587"/>
          </a:xfrm>
          <a:prstGeom prst="rect">
            <a:avLst/>
          </a:prstGeom>
        </p:spPr>
      </p:pic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47902" y="4381805"/>
            <a:ext cx="286207" cy="286207"/>
          </a:xfrm>
          <a:prstGeom prst="rect">
            <a:avLst/>
          </a:prstGeom>
        </p:spPr>
      </p:pic>
      <p:sp>
        <p:nvSpPr>
          <p:cNvPr id="59" name="Text 45"/>
          <p:cNvSpPr txBox="1"/>
          <p:nvPr/>
        </p:nvSpPr>
        <p:spPr>
          <a:xfrm>
            <a:off x="1009498" y="4401007"/>
            <a:ext cx="3621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1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34256" y="5000854"/>
            <a:ext cx="286207" cy="286207"/>
          </a:xfrm>
          <a:prstGeom prst="rect">
            <a:avLst/>
          </a:prstGeom>
        </p:spPr>
      </p:pic>
      <p:sp>
        <p:nvSpPr>
          <p:cNvPr id="61" name="Text 47"/>
          <p:cNvSpPr txBox="1"/>
          <p:nvPr/>
        </p:nvSpPr>
        <p:spPr>
          <a:xfrm>
            <a:off x="4295851" y="5020056"/>
            <a:ext cx="3621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100" dirty="0"/>
          </a:p>
        </p:txBody>
      </p:sp>
      <p:pic>
        <p:nvPicPr>
          <p:cNvPr id="76" name="그림 75">
            <a:extLst>
              <a:ext uri="{FF2B5EF4-FFF2-40B4-BE49-F238E27FC236}">
                <a16:creationId xmlns:a16="http://schemas.microsoft.com/office/drawing/2014/main" id="{D0104990-F131-5015-D757-73060D1338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17045" y="2797874"/>
            <a:ext cx="3138917" cy="1050835"/>
          </a:xfrm>
          <a:prstGeom prst="rect">
            <a:avLst/>
          </a:prstGeom>
        </p:spPr>
      </p:pic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34256" y="3191256"/>
            <a:ext cx="286207" cy="286207"/>
          </a:xfrm>
          <a:prstGeom prst="rect">
            <a:avLst/>
          </a:prstGeom>
        </p:spPr>
      </p:pic>
      <p:sp>
        <p:nvSpPr>
          <p:cNvPr id="60" name="Text 46"/>
          <p:cNvSpPr txBox="1"/>
          <p:nvPr/>
        </p:nvSpPr>
        <p:spPr>
          <a:xfrm>
            <a:off x="4295851" y="3209544"/>
            <a:ext cx="3621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100" dirty="0"/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323C785E-CDA5-844E-7C94-B83727CBCFB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7330" y="2632558"/>
            <a:ext cx="1487672" cy="932231"/>
          </a:xfrm>
          <a:prstGeom prst="rect">
            <a:avLst/>
          </a:prstGeom>
        </p:spPr>
      </p:pic>
      <p:pic>
        <p:nvPicPr>
          <p:cNvPr id="79" name="Image 3" descr="preencoded.png">
            <a:extLst>
              <a:ext uri="{FF2B5EF4-FFF2-40B4-BE49-F238E27FC236}">
                <a16:creationId xmlns:a16="http://schemas.microsoft.com/office/drawing/2014/main" id="{9F1A0F03-8046-5360-7E22-502EB04ACE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34255" y="1947419"/>
            <a:ext cx="286207" cy="286207"/>
          </a:xfrm>
          <a:prstGeom prst="rect">
            <a:avLst/>
          </a:prstGeom>
        </p:spPr>
      </p:pic>
      <p:sp>
        <p:nvSpPr>
          <p:cNvPr id="80" name="Text 44">
            <a:extLst>
              <a:ext uri="{FF2B5EF4-FFF2-40B4-BE49-F238E27FC236}">
                <a16:creationId xmlns:a16="http://schemas.microsoft.com/office/drawing/2014/main" id="{E1BAE7EF-DC7D-2427-FF7D-9EC743A54F03}"/>
              </a:ext>
            </a:extLst>
          </p:cNvPr>
          <p:cNvSpPr txBox="1"/>
          <p:nvPr/>
        </p:nvSpPr>
        <p:spPr>
          <a:xfrm>
            <a:off x="4295851" y="1966621"/>
            <a:ext cx="3621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100" dirty="0"/>
          </a:p>
        </p:txBody>
      </p:sp>
      <p:pic>
        <p:nvPicPr>
          <p:cNvPr id="81" name="Image 3" descr="preencoded.png">
            <a:extLst>
              <a:ext uri="{FF2B5EF4-FFF2-40B4-BE49-F238E27FC236}">
                <a16:creationId xmlns:a16="http://schemas.microsoft.com/office/drawing/2014/main" id="{EA92CCB7-CE9B-3536-0646-B7EF716FB1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05750" y="2632710"/>
            <a:ext cx="286207" cy="286207"/>
          </a:xfrm>
          <a:prstGeom prst="rect">
            <a:avLst/>
          </a:prstGeom>
        </p:spPr>
      </p:pic>
      <p:sp>
        <p:nvSpPr>
          <p:cNvPr id="82" name="Text 44">
            <a:extLst>
              <a:ext uri="{FF2B5EF4-FFF2-40B4-BE49-F238E27FC236}">
                <a16:creationId xmlns:a16="http://schemas.microsoft.com/office/drawing/2014/main" id="{C1DD6BFA-3D54-FF02-94F9-BC1BB7D3E7CE}"/>
              </a:ext>
            </a:extLst>
          </p:cNvPr>
          <p:cNvSpPr txBox="1"/>
          <p:nvPr/>
        </p:nvSpPr>
        <p:spPr>
          <a:xfrm>
            <a:off x="7267346" y="2651912"/>
            <a:ext cx="3621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100" dirty="0"/>
          </a:p>
        </p:txBody>
      </p:sp>
      <p:pic>
        <p:nvPicPr>
          <p:cNvPr id="83" name="Image 3" descr="preencoded.png">
            <a:extLst>
              <a:ext uri="{FF2B5EF4-FFF2-40B4-BE49-F238E27FC236}">
                <a16:creationId xmlns:a16="http://schemas.microsoft.com/office/drawing/2014/main" id="{8875BD1C-2A51-DD05-2060-46551191A7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91502" y="3137001"/>
            <a:ext cx="286207" cy="286207"/>
          </a:xfrm>
          <a:prstGeom prst="rect">
            <a:avLst/>
          </a:prstGeom>
        </p:spPr>
      </p:pic>
      <p:sp>
        <p:nvSpPr>
          <p:cNvPr id="84" name="Text 44">
            <a:extLst>
              <a:ext uri="{FF2B5EF4-FFF2-40B4-BE49-F238E27FC236}">
                <a16:creationId xmlns:a16="http://schemas.microsoft.com/office/drawing/2014/main" id="{6F4CADFF-1ACC-04D0-6D3D-7DB757BCD510}"/>
              </a:ext>
            </a:extLst>
          </p:cNvPr>
          <p:cNvSpPr txBox="1"/>
          <p:nvPr/>
        </p:nvSpPr>
        <p:spPr>
          <a:xfrm>
            <a:off x="6953098" y="3156203"/>
            <a:ext cx="3621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100" dirty="0"/>
          </a:p>
        </p:txBody>
      </p:sp>
      <p:pic>
        <p:nvPicPr>
          <p:cNvPr id="86" name="그림 85">
            <a:extLst>
              <a:ext uri="{FF2B5EF4-FFF2-40B4-BE49-F238E27FC236}">
                <a16:creationId xmlns:a16="http://schemas.microsoft.com/office/drawing/2014/main" id="{1E6F3683-372B-D266-DCE3-87FA3B1D6A8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38600" y="3832934"/>
            <a:ext cx="1377107" cy="923589"/>
          </a:xfrm>
          <a:prstGeom prst="rect">
            <a:avLst/>
          </a:prstGeom>
        </p:spPr>
      </p:pic>
      <p:pic>
        <p:nvPicPr>
          <p:cNvPr id="87" name="Image 3" descr="preencoded.png">
            <a:extLst>
              <a:ext uri="{FF2B5EF4-FFF2-40B4-BE49-F238E27FC236}">
                <a16:creationId xmlns:a16="http://schemas.microsoft.com/office/drawing/2014/main" id="{2CF70080-9037-DAB3-0046-5C615C4B0E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15606" y="3697950"/>
            <a:ext cx="286207" cy="286207"/>
          </a:xfrm>
          <a:prstGeom prst="rect">
            <a:avLst/>
          </a:prstGeom>
        </p:spPr>
      </p:pic>
      <p:sp>
        <p:nvSpPr>
          <p:cNvPr id="88" name="Text 44">
            <a:extLst>
              <a:ext uri="{FF2B5EF4-FFF2-40B4-BE49-F238E27FC236}">
                <a16:creationId xmlns:a16="http://schemas.microsoft.com/office/drawing/2014/main" id="{0D1AF18B-6A3D-B6E5-4E1D-8B50D63526AF}"/>
              </a:ext>
            </a:extLst>
          </p:cNvPr>
          <p:cNvSpPr txBox="1"/>
          <p:nvPr/>
        </p:nvSpPr>
        <p:spPr>
          <a:xfrm>
            <a:off x="6877202" y="3717152"/>
            <a:ext cx="3621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100" dirty="0"/>
          </a:p>
        </p:txBody>
      </p:sp>
      <p:pic>
        <p:nvPicPr>
          <p:cNvPr id="90" name="그림 89">
            <a:extLst>
              <a:ext uri="{FF2B5EF4-FFF2-40B4-BE49-F238E27FC236}">
                <a16:creationId xmlns:a16="http://schemas.microsoft.com/office/drawing/2014/main" id="{C2DEBE20-3B4C-6AC4-093B-ACC3804105D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4491" y="4963540"/>
            <a:ext cx="1320763" cy="1000913"/>
          </a:xfrm>
          <a:prstGeom prst="rect">
            <a:avLst/>
          </a:prstGeom>
        </p:spPr>
      </p:pic>
      <p:pic>
        <p:nvPicPr>
          <p:cNvPr id="91" name="Image 1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29500" y="5524805"/>
            <a:ext cx="286207" cy="286207"/>
          </a:xfrm>
          <a:prstGeom prst="rect">
            <a:avLst/>
          </a:prstGeom>
        </p:spPr>
      </p:pic>
      <p:sp>
        <p:nvSpPr>
          <p:cNvPr id="92" name="Text 52"/>
          <p:cNvSpPr txBox="1"/>
          <p:nvPr/>
        </p:nvSpPr>
        <p:spPr>
          <a:xfrm>
            <a:off x="7391095" y="5544007"/>
            <a:ext cx="3621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100" dirty="0"/>
          </a:p>
        </p:txBody>
      </p:sp>
      <p:pic>
        <p:nvPicPr>
          <p:cNvPr id="95" name="Image 11" descr="preencoded.png">
            <a:extLst>
              <a:ext uri="{FF2B5EF4-FFF2-40B4-BE49-F238E27FC236}">
                <a16:creationId xmlns:a16="http://schemas.microsoft.com/office/drawing/2014/main" id="{5F24C8B8-F204-4AC3-AA18-F7CA7E5C4C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62902" y="4908345"/>
            <a:ext cx="286207" cy="286207"/>
          </a:xfrm>
          <a:prstGeom prst="rect">
            <a:avLst/>
          </a:prstGeom>
        </p:spPr>
      </p:pic>
      <p:sp>
        <p:nvSpPr>
          <p:cNvPr id="96" name="Text 52">
            <a:extLst>
              <a:ext uri="{FF2B5EF4-FFF2-40B4-BE49-F238E27FC236}">
                <a16:creationId xmlns:a16="http://schemas.microsoft.com/office/drawing/2014/main" id="{BC2C2983-9B44-3B2D-D08D-CFB468954390}"/>
              </a:ext>
            </a:extLst>
          </p:cNvPr>
          <p:cNvSpPr txBox="1"/>
          <p:nvPr/>
        </p:nvSpPr>
        <p:spPr>
          <a:xfrm>
            <a:off x="6724497" y="4927547"/>
            <a:ext cx="3621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1100" dirty="0"/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08CB595B-F9B6-08DD-847A-3F9F0377AFF0}"/>
              </a:ext>
            </a:extLst>
          </p:cNvPr>
          <p:cNvSpPr/>
          <p:nvPr/>
        </p:nvSpPr>
        <p:spPr>
          <a:xfrm>
            <a:off x="1438230" y="2868320"/>
            <a:ext cx="812525" cy="645872"/>
          </a:xfrm>
          <a:prstGeom prst="rect">
            <a:avLst/>
          </a:prstGeom>
          <a:solidFill>
            <a:srgbClr val="FF9400"/>
          </a:solidFill>
          <a:ln>
            <a:solidFill>
              <a:srgbClr val="FF94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12B6A9AB-E16B-D78B-BB67-5D6D473B198B}"/>
              </a:ext>
            </a:extLst>
          </p:cNvPr>
          <p:cNvSpPr/>
          <p:nvPr/>
        </p:nvSpPr>
        <p:spPr>
          <a:xfrm>
            <a:off x="2981325" y="3098673"/>
            <a:ext cx="873125" cy="59927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E5F58CE-7FBE-15E7-663F-DF3415706EF9}"/>
              </a:ext>
            </a:extLst>
          </p:cNvPr>
          <p:cNvSpPr/>
          <p:nvPr/>
        </p:nvSpPr>
        <p:spPr>
          <a:xfrm>
            <a:off x="6439205" y="3105759"/>
            <a:ext cx="427939" cy="40843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404" r="-404"/>
          <a:stretch/>
        </p:blipFill>
        <p:spPr>
          <a:xfrm>
            <a:off x="8143646" y="2095805"/>
            <a:ext cx="19202" cy="36191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1695" y="1809598"/>
            <a:ext cx="3372307" cy="4229100"/>
          </a:xfrm>
          <a:prstGeom prst="roundRect">
            <a:avLst>
              <a:gd name="adj" fmla="val 1838"/>
            </a:avLst>
          </a:prstGeom>
          <a:solidFill>
            <a:srgbClr val="FF6720">
              <a:alpha val="5000"/>
            </a:srgbClr>
          </a:solidFill>
          <a:ln w="25400">
            <a:solidFill>
              <a:srgbClr val="FF67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572000" y="1809598"/>
            <a:ext cx="3372307" cy="4229100"/>
          </a:xfrm>
          <a:prstGeom prst="roundRect">
            <a:avLst>
              <a:gd name="adj" fmla="val 1838"/>
            </a:avLst>
          </a:prstGeom>
          <a:solidFill>
            <a:srgbClr val="53565A">
              <a:alpha val="5000"/>
            </a:srgbClr>
          </a:solidFill>
          <a:ln w="25400">
            <a:solidFill>
              <a:srgbClr val="53565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382305" y="1809598"/>
            <a:ext cx="3372307" cy="4229100"/>
          </a:xfrm>
          <a:prstGeom prst="roundRect">
            <a:avLst>
              <a:gd name="adj" fmla="val 1838"/>
            </a:avLst>
          </a:prstGeom>
          <a:solidFill>
            <a:srgbClr val="9EA2A2">
              <a:alpha val="5000"/>
            </a:srgbClr>
          </a:solidFill>
          <a:ln w="25400">
            <a:solidFill>
              <a:srgbClr val="9EA2A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761695" y="1809598"/>
            <a:ext cx="3333902" cy="68580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2" r="-2"/>
          <a:stretch/>
        </p:blipFill>
        <p:spPr>
          <a:xfrm>
            <a:off x="4572000" y="1809598"/>
            <a:ext cx="3333902" cy="68580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2" r="-2"/>
          <a:stretch/>
        </p:blipFill>
        <p:spPr>
          <a:xfrm>
            <a:off x="8382305" y="1809598"/>
            <a:ext cx="3333902" cy="685800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952805" y="2667305"/>
            <a:ext cx="2952598" cy="1429207"/>
          </a:xfrm>
          <a:prstGeom prst="roundRect">
            <a:avLst>
              <a:gd name="adj" fmla="val 68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6"/>
          <p:cNvSpPr/>
          <p:nvPr/>
        </p:nvSpPr>
        <p:spPr>
          <a:xfrm>
            <a:off x="952805" y="4286707"/>
            <a:ext cx="2952598" cy="1429207"/>
          </a:xfrm>
          <a:prstGeom prst="roundRect">
            <a:avLst>
              <a:gd name="adj" fmla="val 68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4762195" y="2667305"/>
            <a:ext cx="2991002" cy="1429207"/>
          </a:xfrm>
          <a:prstGeom prst="roundRect">
            <a:avLst>
              <a:gd name="adj" fmla="val 6824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4762195" y="2667305"/>
            <a:ext cx="38405" cy="1429207"/>
          </a:xfrm>
          <a:prstGeom prst="roundRect">
            <a:avLst>
              <a:gd name="adj" fmla="val 253967"/>
            </a:avLst>
          </a:prstGeom>
          <a:solidFill>
            <a:srgbClr val="FF6720"/>
          </a:solidFill>
          <a:ln w="12700">
            <a:solidFill>
              <a:srgbClr val="FF67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4762195" y="4286707"/>
            <a:ext cx="2952598" cy="1429207"/>
          </a:xfrm>
          <a:prstGeom prst="roundRect">
            <a:avLst>
              <a:gd name="adj" fmla="val 68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8572500" y="2667305"/>
            <a:ext cx="2952598" cy="1429207"/>
          </a:xfrm>
          <a:prstGeom prst="roundRect">
            <a:avLst>
              <a:gd name="adj" fmla="val 68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8572500" y="4286707"/>
            <a:ext cx="2952598" cy="1429207"/>
          </a:xfrm>
          <a:prstGeom prst="roundRect">
            <a:avLst>
              <a:gd name="adj" fmla="val 68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761695" y="6143854"/>
            <a:ext cx="10953598" cy="381305"/>
          </a:xfrm>
          <a:prstGeom prst="roundRect">
            <a:avLst>
              <a:gd name="adj" fmla="val 7194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3"/>
          <p:cNvSpPr txBox="1"/>
          <p:nvPr/>
        </p:nvSpPr>
        <p:spPr>
          <a:xfrm>
            <a:off x="761695" y="571500"/>
            <a:ext cx="68580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75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전자문서 내비게이터 </a:t>
            </a:r>
            <a:r>
              <a:rPr lang="en-US" sz="1900" b="1" kern="0" spc="-75" dirty="0">
                <a:solidFill>
                  <a:srgbClr val="9EA2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상황별 문서 가이드</a:t>
            </a:r>
            <a:endParaRPr lang="en-US" sz="2500" dirty="0"/>
          </a:p>
        </p:txBody>
      </p:sp>
      <p:sp>
        <p:nvSpPr>
          <p:cNvPr id="20" name="Text 14"/>
          <p:cNvSpPr txBox="1"/>
          <p:nvPr/>
        </p:nvSpPr>
        <p:spPr>
          <a:xfrm>
            <a:off x="761695" y="1143000"/>
            <a:ext cx="800465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-37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"이럴 땐 어떤 문서를 써야 하죠?" 자주 헷갈리는 전자문서 분류를 3가지로 정리했습니다.</a:t>
            </a:r>
            <a:endParaRPr lang="en-US" sz="15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rcRect l="-133" r="-133"/>
          <a:stretch/>
        </p:blipFill>
        <p:spPr>
          <a:xfrm>
            <a:off x="1057046" y="2029054"/>
            <a:ext cx="171907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29207" y="1904695"/>
            <a:ext cx="25530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 &amp; 사전 허락</a:t>
            </a:r>
            <a:endParaRPr lang="en-US" sz="13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Planning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1143000" y="3182112"/>
            <a:ext cx="2572207" cy="9144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7"/>
          <p:cNvSpPr txBox="1"/>
          <p:nvPr/>
        </p:nvSpPr>
        <p:spPr>
          <a:xfrm>
            <a:off x="1143000" y="2857500"/>
            <a:ext cx="2648102" cy="2487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기안품의서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1143000" y="3305556"/>
            <a:ext cx="264810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새로운 프로젝트, 비품 구매, 행사 등 무언가를 </a:t>
            </a:r>
            <a:r>
              <a:rPr lang="en-US" sz="1000" b="1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시작하기 전</a:t>
            </a:r>
            <a:r>
              <a:rPr lang="en-US" sz="10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결재권자에게 승인을 받는 문서입니다.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1143000" y="4801514"/>
            <a:ext cx="2572207" cy="9144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0"/>
          <p:cNvSpPr txBox="1"/>
          <p:nvPr/>
        </p:nvSpPr>
        <p:spPr>
          <a:xfrm>
            <a:off x="1143000" y="4476902"/>
            <a:ext cx="2648102" cy="2487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출장품의서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143000" y="4924044"/>
            <a:ext cx="264810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국내/해외 출장 일정 및 예상 경비를 </a:t>
            </a:r>
            <a:r>
              <a:rPr lang="en-US" sz="1000" b="1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사전에 보고</a:t>
            </a:r>
            <a:r>
              <a:rPr lang="en-US" sz="10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문서. (해외 및 5인 이상 출장은 대표이사 결재 필수)</a:t>
            </a:r>
            <a:endParaRPr lang="en-US" sz="10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143146" y="3715207"/>
            <a:ext cx="286207" cy="286207"/>
          </a:xfrm>
          <a:prstGeom prst="rect">
            <a:avLst/>
          </a:prstGeom>
        </p:spPr>
      </p:pic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rcRect t="-45" b="-45"/>
          <a:stretch/>
        </p:blipFill>
        <p:spPr>
          <a:xfrm>
            <a:off x="4824374" y="2029054"/>
            <a:ext cx="256946" cy="2286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5238598" y="1904695"/>
            <a:ext cx="25530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지급 &amp; 정산</a:t>
            </a:r>
            <a:endParaRPr lang="en-US" sz="13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Spending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4953305" y="3182112"/>
            <a:ext cx="2572207" cy="9144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4"/>
          <p:cNvSpPr txBox="1"/>
          <p:nvPr/>
        </p:nvSpPr>
        <p:spPr>
          <a:xfrm>
            <a:off x="4953305" y="2857500"/>
            <a:ext cx="2648102" cy="2487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지출결의서</a:t>
            </a:r>
            <a:endParaRPr lang="en-US" sz="1300" dirty="0"/>
          </a:p>
        </p:txBody>
      </p:sp>
      <p:sp>
        <p:nvSpPr>
          <p:cNvPr id="34" name="Text 25"/>
          <p:cNvSpPr txBox="1"/>
          <p:nvPr/>
        </p:nvSpPr>
        <p:spPr>
          <a:xfrm>
            <a:off x="4953305" y="3305556"/>
            <a:ext cx="264810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법인카드/개인카드 사용 후 실제 비용 </a:t>
            </a:r>
            <a:r>
              <a:rPr lang="en-US" sz="1000" b="1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지급이나 정산</a:t>
            </a:r>
            <a:r>
              <a:rPr lang="en-US" sz="10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요청하는 핵심 문서입니다. (영수증 첨부)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4953305" y="4801514"/>
            <a:ext cx="2572207" cy="9144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7"/>
          <p:cNvSpPr txBox="1"/>
          <p:nvPr/>
        </p:nvSpPr>
        <p:spPr>
          <a:xfrm>
            <a:off x="4953305" y="4476902"/>
            <a:ext cx="2648102" cy="2487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법인카드 신청서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4953305" y="4924044"/>
            <a:ext cx="26481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부서 공용이 아닌 특정 목적을 위해 </a:t>
            </a:r>
            <a:r>
              <a:rPr lang="en-US" sz="1000" b="1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일시적으로 법인카드를 대여</a:t>
            </a:r>
            <a:r>
              <a:rPr lang="en-US" sz="10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받고자 할 때 작성합니다.</a:t>
            </a:r>
            <a:endParaRPr lang="en-US" sz="100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10"/>
          <a:srcRect t="-45" b="-45"/>
          <a:stretch/>
        </p:blipFill>
        <p:spPr>
          <a:xfrm>
            <a:off x="8634679" y="2029054"/>
            <a:ext cx="256946" cy="22860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9048902" y="1904695"/>
            <a:ext cx="255300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 &amp; 인사 신청</a:t>
            </a:r>
            <a:endParaRPr lang="en-US" sz="13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9EA2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Admin</a:t>
            </a:r>
            <a:endParaRPr lang="en-US" sz="1300" dirty="0"/>
          </a:p>
        </p:txBody>
      </p:sp>
      <p:sp>
        <p:nvSpPr>
          <p:cNvPr id="40" name="Shape 30"/>
          <p:cNvSpPr/>
          <p:nvPr/>
        </p:nvSpPr>
        <p:spPr>
          <a:xfrm>
            <a:off x="8762695" y="3182112"/>
            <a:ext cx="2572207" cy="9144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1"/>
          <p:cNvSpPr txBox="1"/>
          <p:nvPr/>
        </p:nvSpPr>
        <p:spPr>
          <a:xfrm>
            <a:off x="8762695" y="2857500"/>
            <a:ext cx="2648102" cy="2487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교육신청서</a:t>
            </a:r>
            <a:endParaRPr lang="en-US" sz="1300" dirty="0"/>
          </a:p>
        </p:txBody>
      </p:sp>
      <p:sp>
        <p:nvSpPr>
          <p:cNvPr id="42" name="Text 32"/>
          <p:cNvSpPr txBox="1"/>
          <p:nvPr/>
        </p:nvSpPr>
        <p:spPr>
          <a:xfrm>
            <a:off x="8762695" y="3305556"/>
            <a:ext cx="2648102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직무 역량 강화를 위한 외부 오프라인/온라인 교육 수강을 신청합니다. (종료 1주일 내 증빙 제출)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8762695" y="4801514"/>
            <a:ext cx="2572207" cy="9144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4"/>
          <p:cNvSpPr txBox="1"/>
          <p:nvPr/>
        </p:nvSpPr>
        <p:spPr>
          <a:xfrm>
            <a:off x="8762695" y="4476902"/>
            <a:ext cx="2648102" cy="2487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증명발급요청서</a:t>
            </a:r>
            <a:endParaRPr lang="en-US" sz="1300" dirty="0"/>
          </a:p>
        </p:txBody>
      </p:sp>
      <p:sp>
        <p:nvSpPr>
          <p:cNvPr id="45" name="Text 35"/>
          <p:cNvSpPr txBox="1"/>
          <p:nvPr/>
        </p:nvSpPr>
        <p:spPr>
          <a:xfrm>
            <a:off x="8762695" y="4924044"/>
            <a:ext cx="26481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재직증명서, 경력증명서, 원천징수영수증 등 개인 인사/급여 관련 서류 발급 시 사용합니다.</a:t>
            </a:r>
            <a:endParaRPr lang="en-US" sz="1000" dirty="0"/>
          </a:p>
        </p:txBody>
      </p:sp>
      <p:sp>
        <p:nvSpPr>
          <p:cNvPr id="46" name="Text 36"/>
          <p:cNvSpPr txBox="1"/>
          <p:nvPr/>
        </p:nvSpPr>
        <p:spPr>
          <a:xfrm>
            <a:off x="2991917" y="6238951"/>
            <a:ext cx="87242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일반적인 업무 비용 처리는 </a:t>
            </a:r>
            <a:r>
              <a:rPr lang="en-US" sz="10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</a:t>
            </a:r>
            <a:r>
              <a:rPr lang="en-US" sz="1000" b="1" dirty="0" err="1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기안품의서로</a:t>
            </a:r>
            <a:r>
              <a:rPr lang="en-US" sz="10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</a:t>
            </a:r>
            <a:r>
              <a:rPr lang="en-US" sz="1000" b="1" dirty="0" err="1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받기</a:t>
            </a:r>
            <a:r>
              <a:rPr lang="en-US" sz="10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] → [실제 집행/비용 사용] → [지출결의서로 정산]</a:t>
            </a:r>
            <a:r>
              <a:rPr lang="en-US" sz="10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순서로 진행됩니다.</a:t>
            </a:r>
            <a:endParaRPr lang="en-US" sz="1000" dirty="0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2781605" y="6274613"/>
            <a:ext cx="133502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761695" y="1809598"/>
            <a:ext cx="5143500" cy="443849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91402" y="1809598"/>
            <a:ext cx="5238598" cy="443849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047902" y="2095805"/>
            <a:ext cx="4572000" cy="952805"/>
          </a:xfrm>
          <a:prstGeom prst="roundRect">
            <a:avLst>
              <a:gd name="adj" fmla="val 15355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1047902" y="3191256"/>
            <a:ext cx="4572000" cy="1047902"/>
          </a:xfrm>
          <a:prstGeom prst="roundRect">
            <a:avLst>
              <a:gd name="adj" fmla="val 12692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1047902" y="4381805"/>
            <a:ext cx="4591202" cy="1543507"/>
          </a:xfrm>
          <a:prstGeom prst="roundRect">
            <a:avLst>
              <a:gd name="adj" fmla="val 5851"/>
            </a:avLst>
          </a:prstGeom>
          <a:solidFill>
            <a:srgbClr val="FF6720">
              <a:alpha val="5000"/>
            </a:srgbClr>
          </a:solidFill>
          <a:ln w="12700">
            <a:solidFill>
              <a:srgbClr val="FF67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6572707" y="2095805"/>
            <a:ext cx="4496105" cy="3733495"/>
          </a:xfrm>
          <a:prstGeom prst="roundRect">
            <a:avLst>
              <a:gd name="adj" fmla="val 500"/>
            </a:avLst>
          </a:prstGeom>
          <a:solidFill>
            <a:srgbClr val="FFFFFF"/>
          </a:solidFill>
          <a:ln w="12700">
            <a:solidFill>
              <a:srgbClr val="CED4DA"/>
            </a:solidFill>
            <a:prstDash val="solid"/>
          </a:ln>
          <a:effectLst>
            <a:outerShdw blurRad="114300" dist="38100" dir="1782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6476695" y="2286000"/>
            <a:ext cx="46680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기안품의서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9524847" y="2257197"/>
            <a:ext cx="1447495" cy="495605"/>
          </a:xfrm>
          <a:prstGeom prst="rect">
            <a:avLst/>
          </a:prstGeom>
          <a:noFill/>
          <a:ln w="12700">
            <a:solidFill>
              <a:srgbClr val="ADB5B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6762902" y="2952598"/>
            <a:ext cx="780898" cy="323698"/>
          </a:xfrm>
          <a:prstGeom prst="rect">
            <a:avLst/>
          </a:prstGeom>
          <a:solidFill>
            <a:srgbClr val="F1F3F5"/>
          </a:solidFill>
          <a:ln w="12700">
            <a:solidFill>
              <a:srgbClr val="CED4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515454" y="2952598"/>
            <a:ext cx="3258007" cy="323698"/>
          </a:xfrm>
          <a:prstGeom prst="rect">
            <a:avLst/>
          </a:prstGeom>
          <a:noFill/>
          <a:ln w="12700">
            <a:solidFill>
              <a:srgbClr val="CED4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6762902" y="3247949"/>
            <a:ext cx="780898" cy="866851"/>
          </a:xfrm>
          <a:prstGeom prst="rect">
            <a:avLst/>
          </a:prstGeom>
          <a:solidFill>
            <a:srgbClr val="F1F3F5"/>
          </a:solidFill>
          <a:ln w="12700">
            <a:solidFill>
              <a:srgbClr val="CED4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7515454" y="4105656"/>
            <a:ext cx="3258007" cy="9144"/>
          </a:xfrm>
          <a:prstGeom prst="rect">
            <a:avLst/>
          </a:prstGeom>
          <a:solidFill>
            <a:srgbClr val="CED4DA"/>
          </a:solidFill>
          <a:ln w="12700">
            <a:solidFill>
              <a:srgbClr val="CED4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10763402" y="3247949"/>
            <a:ext cx="9144" cy="866851"/>
          </a:xfrm>
          <a:prstGeom prst="rect">
            <a:avLst/>
          </a:prstGeom>
          <a:solidFill>
            <a:srgbClr val="CED4DA"/>
          </a:solidFill>
          <a:ln w="12700">
            <a:solidFill>
              <a:srgbClr val="CED4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6762902" y="4095598"/>
            <a:ext cx="780898" cy="390449"/>
          </a:xfrm>
          <a:prstGeom prst="rect">
            <a:avLst/>
          </a:prstGeom>
          <a:solidFill>
            <a:srgbClr val="F1F3F5"/>
          </a:solidFill>
          <a:ln w="12700">
            <a:solidFill>
              <a:srgbClr val="CED4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7515454" y="4476902"/>
            <a:ext cx="3258007" cy="9144"/>
          </a:xfrm>
          <a:prstGeom prst="rect">
            <a:avLst/>
          </a:prstGeom>
          <a:solidFill>
            <a:srgbClr val="CED4DA"/>
          </a:solidFill>
          <a:ln w="12700">
            <a:solidFill>
              <a:srgbClr val="CED4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10763402" y="4095598"/>
            <a:ext cx="9144" cy="390449"/>
          </a:xfrm>
          <a:prstGeom prst="rect">
            <a:avLst/>
          </a:prstGeom>
          <a:solidFill>
            <a:srgbClr val="CED4DA"/>
          </a:solidFill>
          <a:ln w="12700">
            <a:solidFill>
              <a:srgbClr val="CED4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9524847" y="2257197"/>
            <a:ext cx="247802" cy="47640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9763506" y="2257197"/>
            <a:ext cx="9144" cy="476402"/>
          </a:xfrm>
          <a:prstGeom prst="rect">
            <a:avLst/>
          </a:prstGeom>
          <a:solidFill>
            <a:srgbClr val="ADB5BD"/>
          </a:solidFill>
          <a:ln w="12700">
            <a:solidFill>
              <a:srgbClr val="ADB5B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t="-2100" b="-2100"/>
          <a:stretch/>
        </p:blipFill>
        <p:spPr>
          <a:xfrm>
            <a:off x="10239908" y="2257197"/>
            <a:ext cx="9144" cy="476402"/>
          </a:xfrm>
          <a:prstGeom prst="rect">
            <a:avLst/>
          </a:prstGeom>
        </p:spPr>
      </p:pic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2078" r="-2078"/>
          <a:stretch/>
        </p:blipFill>
        <p:spPr>
          <a:xfrm>
            <a:off x="9763506" y="2447392"/>
            <a:ext cx="1190549" cy="91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724498" y="3029407"/>
            <a:ext cx="8385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7619695" y="3029407"/>
            <a:ext cx="3238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하반기 신규 소프트웨어 도입의 건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6724498" y="3600907"/>
            <a:ext cx="8385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목적/내용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7619695" y="3333902"/>
            <a:ext cx="3238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도입 목적: 사내 디자인 업무 효율성 향상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7619695" y="3534156"/>
            <a:ext cx="332384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도입 품목: Adobe Creative Cloud 연간 구독 3copy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7619695" y="3733495"/>
            <a:ext cx="31629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사용 기간: 2026.05.01 ~ 2027.04.30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6724498" y="4209898"/>
            <a:ext cx="8385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비용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7619695" y="4209898"/>
            <a:ext cx="31629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3,000,000원 (VAT 별도)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9496501" y="2323948"/>
            <a:ext cx="295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</a:t>
            </a:r>
            <a:endParaRPr lang="en-US" sz="800" dirty="0"/>
          </a:p>
        </p:txBody>
      </p:sp>
      <p:sp>
        <p:nvSpPr>
          <p:cNvPr id="33" name="Text 27"/>
          <p:cNvSpPr txBox="1"/>
          <p:nvPr/>
        </p:nvSpPr>
        <p:spPr>
          <a:xfrm>
            <a:off x="9725101" y="2304746"/>
            <a:ext cx="5532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기안</a:t>
            </a:r>
            <a:endParaRPr lang="en-US" sz="800" dirty="0"/>
          </a:p>
        </p:txBody>
      </p:sp>
      <p:sp>
        <p:nvSpPr>
          <p:cNvPr id="34" name="Text 28"/>
          <p:cNvSpPr txBox="1"/>
          <p:nvPr/>
        </p:nvSpPr>
        <p:spPr>
          <a:xfrm>
            <a:off x="10439247" y="2304746"/>
            <a:ext cx="5532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</a:t>
            </a:r>
            <a:endParaRPr lang="en-US" sz="8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925354" y="2514144"/>
            <a:ext cx="152705" cy="152705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6762902" y="4466844"/>
            <a:ext cx="800100" cy="476402"/>
          </a:xfrm>
          <a:prstGeom prst="rect">
            <a:avLst/>
          </a:prstGeom>
          <a:solidFill>
            <a:srgbClr val="FF6720">
              <a:alpha val="10000"/>
            </a:srgbClr>
          </a:solidFill>
          <a:ln w="25400">
            <a:solidFill>
              <a:srgbClr val="FF67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0"/>
          <p:cNvSpPr/>
          <p:nvPr/>
        </p:nvSpPr>
        <p:spPr>
          <a:xfrm>
            <a:off x="7515454" y="4466844"/>
            <a:ext cx="3267151" cy="476402"/>
          </a:xfrm>
          <a:prstGeom prst="rect">
            <a:avLst/>
          </a:prstGeom>
          <a:noFill/>
          <a:ln w="25400">
            <a:solidFill>
              <a:srgbClr val="FF67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1"/>
          <p:cNvSpPr txBox="1"/>
          <p:nvPr/>
        </p:nvSpPr>
        <p:spPr>
          <a:xfrm>
            <a:off x="6724498" y="4600346"/>
            <a:ext cx="8385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첨부파일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7781544" y="4600346"/>
            <a:ext cx="30010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26년_SW도입_견적서_비교.pdf (필수 첨부)</a:t>
            </a:r>
            <a:endParaRPr lang="en-US" sz="9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rcRect l="-2571" r="-2571"/>
          <a:stretch/>
        </p:blipFill>
        <p:spPr>
          <a:xfrm>
            <a:off x="7619695" y="4634179"/>
            <a:ext cx="105156" cy="114300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8382305" y="5038800"/>
            <a:ext cx="2000707" cy="381305"/>
          </a:xfrm>
          <a:prstGeom prst="roundRect">
            <a:avLst>
              <a:gd name="adj" fmla="val 239808"/>
            </a:avLst>
          </a:prstGeom>
          <a:solidFill>
            <a:srgbClr val="FF67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4"/>
          <p:cNvSpPr txBox="1"/>
          <p:nvPr/>
        </p:nvSpPr>
        <p:spPr>
          <a:xfrm>
            <a:off x="761695" y="571500"/>
            <a:ext cx="702990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75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기안품의서 작성 가이드 </a:t>
            </a:r>
            <a:r>
              <a:rPr lang="en-US" sz="1900" b="1" kern="0" spc="-75" dirty="0">
                <a:solidFill>
                  <a:srgbClr val="9EA2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시작 전 사전 승인</a:t>
            </a:r>
            <a:endParaRPr lang="en-US" sz="2500" dirty="0"/>
          </a:p>
        </p:txBody>
      </p:sp>
      <p:sp>
        <p:nvSpPr>
          <p:cNvPr id="43" name="Text 35"/>
          <p:cNvSpPr txBox="1"/>
          <p:nvPr/>
        </p:nvSpPr>
        <p:spPr>
          <a:xfrm>
            <a:off x="761695" y="1143000"/>
            <a:ext cx="81729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-37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새로운 프로젝트나 비용을 지출하기 전에 '대표님(팀장님), 이거 진행해도 될까요?'라고 사전 허락을 구하는 문서입니다.</a:t>
            </a:r>
            <a:endParaRPr lang="en-US" sz="150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rcRect l="-133" r="-133"/>
          <a:stretch/>
        </p:blipFill>
        <p:spPr>
          <a:xfrm>
            <a:off x="1343254" y="2361895"/>
            <a:ext cx="171907" cy="228600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1714500" y="2238451"/>
            <a:ext cx="3810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문서의 개념</a:t>
            </a:r>
            <a:endParaRPr lang="en-US" sz="1500" dirty="0"/>
          </a:p>
        </p:txBody>
      </p:sp>
      <p:sp>
        <p:nvSpPr>
          <p:cNvPr id="46" name="Text 37"/>
          <p:cNvSpPr txBox="1"/>
          <p:nvPr/>
        </p:nvSpPr>
        <p:spPr>
          <a:xfrm>
            <a:off x="1714500" y="2438248"/>
            <a:ext cx="359092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업무의 시작을 알리는 가장 기본적이고 핵심적인 전자문서로, </a:t>
            </a:r>
            <a:r>
              <a:rPr lang="en-US" sz="1100" b="1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기안품의서가 '완결'되어야만 실제 지출 및 계약이 가능</a:t>
            </a:r>
            <a:r>
              <a:rPr lang="en-US" sz="11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</a:t>
            </a:r>
            <a:endParaRPr lang="en-US" sz="110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10"/>
          <a:srcRect t="-45" b="-45"/>
          <a:stretch/>
        </p:blipFill>
        <p:spPr>
          <a:xfrm>
            <a:off x="1300277" y="3457346"/>
            <a:ext cx="256946" cy="228600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1714500" y="3333902"/>
            <a:ext cx="3810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작성자 및 결재선 지정</a:t>
            </a:r>
            <a:endParaRPr lang="en-US" sz="1500" dirty="0"/>
          </a:p>
        </p:txBody>
      </p:sp>
      <p:sp>
        <p:nvSpPr>
          <p:cNvPr id="49" name="Text 39"/>
          <p:cNvSpPr txBox="1"/>
          <p:nvPr/>
        </p:nvSpPr>
        <p:spPr>
          <a:xfrm>
            <a:off x="1714500" y="3610508"/>
            <a:ext cx="38103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무조건 </a:t>
            </a:r>
            <a:r>
              <a:rPr lang="en-US" sz="1100" b="1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본인(기안자)이 직접 작성</a:t>
            </a:r>
            <a:r>
              <a:rPr lang="en-US" sz="11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해야 합니다. 문서의 목적과 요청 금액에 따라 사내 전결기준표를 참고하여 결재선을 지정하세요.</a:t>
            </a:r>
            <a:endParaRPr lang="en-US" sz="1100" dirty="0"/>
          </a:p>
        </p:txBody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314907" y="4647895"/>
            <a:ext cx="228600" cy="228600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1714500" y="4524451"/>
            <a:ext cx="3810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많이 하는 실수! (반려 주의)</a:t>
            </a:r>
            <a:endParaRPr lang="en-US" sz="1500" dirty="0"/>
          </a:p>
        </p:txBody>
      </p:sp>
      <p:sp>
        <p:nvSpPr>
          <p:cNvPr id="52" name="Text 41"/>
          <p:cNvSpPr txBox="1"/>
          <p:nvPr/>
        </p:nvSpPr>
        <p:spPr>
          <a:xfrm>
            <a:off x="1714500" y="4905756"/>
            <a:ext cx="40654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en-US" sz="1100" b="1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 불명확:</a:t>
            </a:r>
            <a:r>
              <a:rPr lang="en-US" sz="1100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왜 필요한지 육하원칙에 따라 구체적 작성</a:t>
            </a:r>
            <a:endParaRPr lang="en-US" sz="1100" dirty="0"/>
          </a:p>
        </p:txBody>
      </p:sp>
      <p:sp>
        <p:nvSpPr>
          <p:cNvPr id="53" name="Text 42"/>
          <p:cNvSpPr txBox="1"/>
          <p:nvPr/>
        </p:nvSpPr>
        <p:spPr>
          <a:xfrm>
            <a:off x="1714500" y="5155387"/>
            <a:ext cx="45454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en-US" sz="1100" b="1" dirty="0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첨부 누락:</a:t>
            </a:r>
            <a:r>
              <a:rPr lang="en-US" sz="1100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사업자등록증, 견적서, 제안서 등 판단 근거 필수!</a:t>
            </a:r>
            <a:endParaRPr lang="en-US" sz="1100" dirty="0"/>
          </a:p>
        </p:txBody>
      </p:sp>
      <p:sp>
        <p:nvSpPr>
          <p:cNvPr id="54" name="Text 43"/>
          <p:cNvSpPr txBox="1"/>
          <p:nvPr/>
        </p:nvSpPr>
        <p:spPr>
          <a:xfrm>
            <a:off x="1714500" y="5405018"/>
            <a:ext cx="452902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</a:t>
            </a:r>
            <a:r>
              <a:rPr lang="en-US" sz="1100" b="1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 오류:</a:t>
            </a:r>
            <a:r>
              <a:rPr lang="en-US" sz="1100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부가세(VAT) 포함 여부 및 총 합계 금액 더블체크</a:t>
            </a:r>
            <a:endParaRPr lang="en-US" sz="1100" dirty="0"/>
          </a:p>
        </p:txBody>
      </p:sp>
      <p:pic>
        <p:nvPicPr>
          <p:cNvPr id="55" name="Image 9" descr="preencoded.png"/>
          <p:cNvPicPr>
            <a:picLocks noChangeAspect="1"/>
          </p:cNvPicPr>
          <p:nvPr/>
        </p:nvPicPr>
        <p:blipFill>
          <a:blip r:embed="rId12"/>
          <a:srcRect l="-16667" r="-16667"/>
          <a:stretch/>
        </p:blipFill>
        <p:spPr>
          <a:xfrm>
            <a:off x="8036662" y="4893869"/>
            <a:ext cx="409651" cy="409651"/>
          </a:xfrm>
          <a:prstGeom prst="rect">
            <a:avLst/>
          </a:prstGeom>
        </p:spPr>
      </p:pic>
      <p:sp>
        <p:nvSpPr>
          <p:cNvPr id="56" name="Text 44"/>
          <p:cNvSpPr txBox="1"/>
          <p:nvPr/>
        </p:nvSpPr>
        <p:spPr>
          <a:xfrm>
            <a:off x="8301838" y="5133898"/>
            <a:ext cx="216072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증빙서류 누락 절대 주의!</a:t>
            </a:r>
            <a:endParaRPr lang="en-US" sz="1000" dirty="0"/>
          </a:p>
        </p:txBody>
      </p:sp>
      <p:sp>
        <p:nvSpPr>
          <p:cNvPr id="57" name="Text 45"/>
          <p:cNvSpPr txBox="1"/>
          <p:nvPr/>
        </p:nvSpPr>
        <p:spPr>
          <a:xfrm>
            <a:off x="7540142" y="5477256"/>
            <a:ext cx="358627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EA2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항목을 꼼꼼히 확인한 후 '상신' 버튼을 클릭하면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EA2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지정된 결재선으로 알림이 전송됩니다.</a:t>
            </a:r>
            <a:endParaRPr lang="en-US" sz="900" dirty="0"/>
          </a:p>
        </p:txBody>
      </p:sp>
      <p:pic>
        <p:nvPicPr>
          <p:cNvPr id="58" name="Image 10" descr="preencoded.png"/>
          <p:cNvPicPr>
            <a:picLocks noChangeAspect="1"/>
          </p:cNvPicPr>
          <p:nvPr/>
        </p:nvPicPr>
        <p:blipFill>
          <a:blip r:embed="rId13"/>
          <a:srcRect t="-1359" b="-1359"/>
          <a:stretch/>
        </p:blipFill>
        <p:spPr>
          <a:xfrm>
            <a:off x="7377379" y="5501945"/>
            <a:ext cx="105156" cy="1234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-2" r="-2"/>
          <a:stretch/>
        </p:blipFill>
        <p:spPr>
          <a:xfrm>
            <a:off x="761695" y="1809598"/>
            <a:ext cx="5143500" cy="443849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91402" y="1809598"/>
            <a:ext cx="5238598" cy="443849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047902" y="2095805"/>
            <a:ext cx="4572000" cy="952805"/>
          </a:xfrm>
          <a:prstGeom prst="roundRect">
            <a:avLst>
              <a:gd name="adj" fmla="val 15355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1047902" y="3238805"/>
            <a:ext cx="4572000" cy="1200607"/>
          </a:xfrm>
          <a:prstGeom prst="roundRect">
            <a:avLst>
              <a:gd name="adj" fmla="val 9671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1047902" y="4572000"/>
            <a:ext cx="4572000" cy="1257300"/>
          </a:xfrm>
          <a:prstGeom prst="roundRect">
            <a:avLst>
              <a:gd name="adj" fmla="val 8815"/>
            </a:avLst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6572707" y="2190902"/>
            <a:ext cx="1752905" cy="609905"/>
          </a:xfrm>
          <a:prstGeom prst="roundRect">
            <a:avLst>
              <a:gd name="adj" fmla="val 37481"/>
            </a:avLst>
          </a:prstGeom>
          <a:solidFill>
            <a:srgbClr val="F8F9FA"/>
          </a:solidFill>
          <a:ln w="25400">
            <a:solidFill>
              <a:srgbClr val="CED4D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8953805" y="2190902"/>
            <a:ext cx="2133295" cy="609905"/>
          </a:xfrm>
          <a:prstGeom prst="roundRect">
            <a:avLst>
              <a:gd name="adj" fmla="val 37481"/>
            </a:avLst>
          </a:prstGeom>
          <a:solidFill>
            <a:srgbClr val="FF6720">
              <a:alpha val="5000"/>
            </a:srgbClr>
          </a:solidFill>
          <a:ln w="25400">
            <a:solidFill>
              <a:srgbClr val="FF67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6572707" y="3143707"/>
            <a:ext cx="4533595" cy="1143000"/>
          </a:xfrm>
          <a:prstGeom prst="roundRect">
            <a:avLst>
              <a:gd name="adj" fmla="val 8000"/>
            </a:avLst>
          </a:prstGeom>
          <a:solidFill>
            <a:srgbClr val="FFF8E6"/>
          </a:solidFill>
          <a:ln/>
          <a:effectLst>
            <a:outerShdw blurRad="762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6572707" y="3143707"/>
            <a:ext cx="57607" cy="1143000"/>
          </a:xfrm>
          <a:prstGeom prst="roundRect">
            <a:avLst>
              <a:gd name="adj" fmla="val 158731"/>
            </a:avLst>
          </a:prstGeom>
          <a:solidFill>
            <a:srgbClr val="FFB800"/>
          </a:solidFill>
          <a:ln w="12700">
            <a:solidFill>
              <a:srgbClr val="FFB8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6572707" y="4572000"/>
            <a:ext cx="4533595" cy="114300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/>
          <a:effectLst>
            <a:outerShdw blurRad="76200" dist="38100" dir="16200000" algn="bl" rotWithShape="0">
              <a:srgbClr val="000000">
                <a:alpha val="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6572707" y="4572000"/>
            <a:ext cx="57607" cy="1143000"/>
          </a:xfrm>
          <a:prstGeom prst="roundRect">
            <a:avLst>
              <a:gd name="adj" fmla="val 158731"/>
            </a:avLst>
          </a:prstGeom>
          <a:solidFill>
            <a:srgbClr val="53565A"/>
          </a:solidFill>
          <a:ln w="12700">
            <a:solidFill>
              <a:srgbClr val="5356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761695" y="571500"/>
            <a:ext cx="753282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75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문서 파헤치기: 지출결의서 </a:t>
            </a:r>
            <a:r>
              <a:rPr lang="en-US" sz="1900" b="1" kern="0" spc="-75" dirty="0">
                <a:solidFill>
                  <a:srgbClr val="9EA2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</a:t>
            </a:r>
            <a:r>
              <a:rPr lang="ko-KR" altLang="en-US" sz="1900" b="1" kern="0" spc="-75" dirty="0">
                <a:solidFill>
                  <a:srgbClr val="9EA2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비용지출</a:t>
            </a:r>
            <a:endParaRPr lang="en-US" sz="2500" dirty="0"/>
          </a:p>
        </p:txBody>
      </p:sp>
      <p:sp>
        <p:nvSpPr>
          <p:cNvPr id="16" name="Text 12"/>
          <p:cNvSpPr txBox="1"/>
          <p:nvPr/>
        </p:nvSpPr>
        <p:spPr>
          <a:xfrm>
            <a:off x="761695" y="1143000"/>
            <a:ext cx="82872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-37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기안품의서로 승인을 받았다면, 이제 실제 비용 지급과 정산을 요청할 차례입니다.</a:t>
            </a:r>
            <a:endParaRPr lang="en-US" sz="15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1343254" y="2361895"/>
            <a:ext cx="171907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14500" y="2238451"/>
            <a:ext cx="3810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개념 및 목적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1714500" y="2572207"/>
            <a:ext cx="36960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실제로 비용을 지출(정산)할 때 작성하는 문서입니다. 항상 사전 승인을 받은 </a:t>
            </a:r>
            <a:r>
              <a:rPr lang="en-US" sz="1000" b="1" dirty="0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기안품의서와 짝꿍</a:t>
            </a:r>
            <a:r>
              <a:rPr lang="en-US" sz="10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처럼 움직여야 합니다.</a:t>
            </a:r>
            <a:endParaRPr lang="en-US" sz="10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1285646" y="3504895"/>
            <a:ext cx="286207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714500" y="3381451"/>
            <a:ext cx="3810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결재선 필수 조건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714500" y="3715207"/>
            <a:ext cx="40791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지출결의서에는 </a:t>
            </a:r>
            <a:r>
              <a:rPr lang="en-US" sz="10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재무회계팀 </a:t>
            </a:r>
            <a:r>
              <a:rPr lang="en-US" sz="1000" b="1" dirty="0" err="1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팀장님의</a:t>
            </a:r>
            <a:r>
              <a:rPr lang="en-US" sz="10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합의</a:t>
            </a:r>
            <a:r>
              <a:rPr lang="ko-KR" altLang="en-US" sz="10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</a:t>
            </a:r>
            <a:r>
              <a:rPr lang="en-US" sz="10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필수입니다.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1911096" y="3932834"/>
            <a:ext cx="361370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900" dirty="0" err="1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위임전결규정을</a:t>
            </a:r>
            <a:r>
              <a:rPr lang="ko-KR" altLang="en-US" sz="900" dirty="0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참고 후 결재라인을 수정해주세요</a:t>
            </a:r>
            <a:r>
              <a:rPr lang="en-US" altLang="ko-KR" sz="900" dirty="0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!</a:t>
            </a:r>
            <a:endParaRPr lang="en-US" sz="9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714500" y="3957523"/>
            <a:ext cx="123444" cy="123444"/>
          </a:xfrm>
          <a:prstGeom prst="rect">
            <a:avLst/>
          </a:prstGeom>
        </p:spPr>
      </p:pic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 l="-57" r="-57"/>
          <a:stretch/>
        </p:blipFill>
        <p:spPr>
          <a:xfrm>
            <a:off x="1328623" y="4839005"/>
            <a:ext cx="200254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714500" y="4714646"/>
            <a:ext cx="3810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첨부 및 주의사항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1714500" y="5048402"/>
            <a:ext cx="36960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</a:t>
            </a:r>
            <a:r>
              <a:rPr lang="en-US" sz="10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전자세금계산서, 법인카드 영수증, 거래명세서</a:t>
            </a:r>
            <a:r>
              <a:rPr lang="en-US" sz="10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적격 증빙을 반드시 첨부하세요.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1714500" y="5446166"/>
            <a:ext cx="38103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 계정과목과 프로젝트 코드를 정확히 확인해야 합니다.</a:t>
            </a:r>
            <a:endParaRPr lang="en-US" sz="900" dirty="0"/>
          </a:p>
        </p:txBody>
      </p:sp>
      <p:sp>
        <p:nvSpPr>
          <p:cNvPr id="29" name="Text 21"/>
          <p:cNvSpPr txBox="1"/>
          <p:nvPr/>
        </p:nvSpPr>
        <p:spPr>
          <a:xfrm>
            <a:off x="6503213" y="2361895"/>
            <a:ext cx="18516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EA2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</a:t>
            </a:r>
            <a:r>
              <a:rPr lang="en-US" sz="1100" b="1" dirty="0" err="1">
                <a:solidFill>
                  <a:srgbClr val="9EA2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기안품의서</a:t>
            </a:r>
            <a:r>
              <a:rPr lang="en-US" sz="1100" b="1" dirty="0">
                <a:solidFill>
                  <a:srgbClr val="9EA2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</a:t>
            </a:r>
            <a:r>
              <a:rPr lang="ko-KR" altLang="en-US" sz="1100" b="1" dirty="0">
                <a:solidFill>
                  <a:srgbClr val="9EA2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</a:t>
            </a:r>
            <a:r>
              <a:rPr lang="en-US" sz="1100" b="1" dirty="0">
                <a:solidFill>
                  <a:srgbClr val="9EA2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1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rcRect l="-57" r="-57"/>
          <a:stretch/>
        </p:blipFill>
        <p:spPr>
          <a:xfrm>
            <a:off x="8520379" y="2361895"/>
            <a:ext cx="200254" cy="2286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8911742" y="2361895"/>
            <a:ext cx="21799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</a:t>
            </a:r>
            <a:r>
              <a:rPr lang="en-US" sz="1100" b="1" dirty="0" err="1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지출결의서</a:t>
            </a:r>
            <a:r>
              <a:rPr lang="en-US" sz="1100" b="1" dirty="0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</a:t>
            </a:r>
            <a:r>
              <a:rPr lang="ko-KR" altLang="en-US" sz="1100" b="1" dirty="0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비용지출</a:t>
            </a:r>
            <a:r>
              <a:rPr lang="en-US" altLang="ko-KR" sz="1100" b="1" dirty="0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1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6819595" y="3362249"/>
            <a:ext cx="171907" cy="22860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7144207" y="3333902"/>
            <a:ext cx="390540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꿀팁</a:t>
            </a:r>
            <a:r>
              <a:rPr lang="en-US" sz="12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기안문서 불러오기</a:t>
            </a:r>
            <a:endParaRPr lang="en-US" sz="1200" dirty="0"/>
          </a:p>
        </p:txBody>
      </p:sp>
      <p:sp>
        <p:nvSpPr>
          <p:cNvPr id="34" name="Text 24"/>
          <p:cNvSpPr txBox="1"/>
          <p:nvPr/>
        </p:nvSpPr>
        <p:spPr>
          <a:xfrm>
            <a:off x="7144207" y="3666744"/>
            <a:ext cx="379110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이전에 결재받은 기결재문서(기안품의서)를 </a:t>
            </a:r>
            <a:r>
              <a:rPr lang="en-US" sz="900" b="1" dirty="0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'관련문서' 탭으로 꼭 연동</a:t>
            </a:r>
            <a:r>
              <a:rPr lang="en-US" sz="9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해주세요! 재무팀에서 허락받은 내역인지 확인하지 못하면 반려될 수 있습니다.</a:t>
            </a:r>
            <a:endParaRPr lang="en-US" sz="90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810451" y="4809744"/>
            <a:ext cx="190195" cy="190195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7144207" y="4762195"/>
            <a:ext cx="390540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정기결제</a:t>
            </a:r>
            <a:r>
              <a:rPr lang="en-US" sz="12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항목은?</a:t>
            </a:r>
            <a:endParaRPr lang="en-US" sz="1200" dirty="0"/>
          </a:p>
        </p:txBody>
      </p:sp>
      <p:sp>
        <p:nvSpPr>
          <p:cNvPr id="37" name="Text 26"/>
          <p:cNvSpPr txBox="1"/>
          <p:nvPr/>
        </p:nvSpPr>
        <p:spPr>
          <a:xfrm>
            <a:off x="7144207" y="5095951"/>
            <a:ext cx="379110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매월 발생하는 서버비/구독료 등은 </a:t>
            </a:r>
            <a:r>
              <a:rPr lang="en-US" sz="9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최초 1회 연간 기안품의서</a:t>
            </a:r>
            <a:r>
              <a:rPr lang="en-US" sz="9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작성하고, 매월 지출결의 시 해당 연간 품의서를 불러와서 처리하면 무척 편리합니다.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1620195" y="-190195"/>
            <a:ext cx="952805" cy="952805"/>
          </a:xfrm>
          <a:prstGeom prst="ellipse">
            <a:avLst/>
          </a:prstGeom>
          <a:solidFill>
            <a:srgbClr val="FF672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239805" y="381305"/>
            <a:ext cx="381305" cy="381305"/>
          </a:xfrm>
          <a:prstGeom prst="ellipse">
            <a:avLst/>
          </a:prstGeom>
          <a:solidFill>
            <a:srgbClr val="53565A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8" r="-8"/>
          <a:stretch/>
        </p:blipFill>
        <p:spPr>
          <a:xfrm>
            <a:off x="952805" y="1714500"/>
            <a:ext cx="6782105" cy="123809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l="-8" r="-8"/>
          <a:stretch/>
        </p:blipFill>
        <p:spPr>
          <a:xfrm>
            <a:off x="952805" y="3143707"/>
            <a:ext cx="6782105" cy="1238098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l="-8" r="-8"/>
          <a:stretch/>
        </p:blipFill>
        <p:spPr>
          <a:xfrm>
            <a:off x="952805" y="4572000"/>
            <a:ext cx="6782105" cy="1238098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rcRect l="-1" r="-1"/>
          <a:stretch/>
        </p:blipFill>
        <p:spPr>
          <a:xfrm>
            <a:off x="8001000" y="1714500"/>
            <a:ext cx="3238805" cy="4153205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1238098" y="2048256"/>
            <a:ext cx="571500" cy="571500"/>
          </a:xfrm>
          <a:prstGeom prst="ellipse">
            <a:avLst/>
          </a:prstGeom>
          <a:solidFill>
            <a:srgbClr val="FF67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5"/>
          <p:cNvSpPr/>
          <p:nvPr/>
        </p:nvSpPr>
        <p:spPr>
          <a:xfrm>
            <a:off x="1238098" y="3476549"/>
            <a:ext cx="571500" cy="571500"/>
          </a:xfrm>
          <a:prstGeom prst="ellipse">
            <a:avLst/>
          </a:prstGeom>
          <a:solidFill>
            <a:srgbClr val="FF67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6"/>
          <p:cNvSpPr/>
          <p:nvPr/>
        </p:nvSpPr>
        <p:spPr>
          <a:xfrm>
            <a:off x="1238098" y="4905756"/>
            <a:ext cx="571500" cy="571500"/>
          </a:xfrm>
          <a:prstGeom prst="ellipse">
            <a:avLst/>
          </a:prstGeom>
          <a:solidFill>
            <a:srgbClr val="FF67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8906256" y="2190902"/>
            <a:ext cx="1429207" cy="1429207"/>
          </a:xfrm>
          <a:prstGeom prst="ellipse">
            <a:avLst/>
          </a:prstGeom>
          <a:solidFill>
            <a:srgbClr val="53565A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/>
          <p:cNvSpPr txBox="1"/>
          <p:nvPr/>
        </p:nvSpPr>
        <p:spPr>
          <a:xfrm>
            <a:off x="761695" y="571500"/>
            <a:ext cx="7653528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75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적응을 위한 핵심 </a:t>
            </a:r>
            <a:r>
              <a:rPr lang="en-US" sz="2500" b="1" kern="0" spc="-75" dirty="0" err="1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체크리스트</a:t>
            </a:r>
            <a:r>
              <a:rPr lang="en-US" sz="2500" b="1" kern="0" spc="-75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2500" dirty="0"/>
          </a:p>
        </p:txBody>
      </p:sp>
      <p:sp>
        <p:nvSpPr>
          <p:cNvPr id="15" name="Text 9"/>
          <p:cNvSpPr txBox="1"/>
          <p:nvPr/>
        </p:nvSpPr>
        <p:spPr>
          <a:xfrm>
            <a:off x="761695" y="1143000"/>
            <a:ext cx="73344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-37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성공적인 네오랩 생활을 위해 꼭 기억해야 할 3가지 필수 항목입니다.</a:t>
            </a:r>
            <a:endParaRPr lang="en-US" sz="15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rcRect l="-881" r="-881"/>
          <a:stretch/>
        </p:blipFill>
        <p:spPr>
          <a:xfrm>
            <a:off x="1404518" y="2190902"/>
            <a:ext cx="237744" cy="2670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2095805" y="2000707"/>
            <a:ext cx="5334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37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홈 베이스 완벽 세팅</a:t>
            </a:r>
            <a:endParaRPr lang="en-US" sz="1700" dirty="0"/>
          </a:p>
        </p:txBody>
      </p:sp>
      <p:sp>
        <p:nvSpPr>
          <p:cNvPr id="18" name="Text 11"/>
          <p:cNvSpPr txBox="1"/>
          <p:nvPr/>
        </p:nvSpPr>
        <p:spPr>
          <a:xfrm>
            <a:off x="2095805" y="2381098"/>
            <a:ext cx="542894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그룹웨어(</a:t>
            </a:r>
            <a:r>
              <a:rPr lang="en-US" sz="1200" dirty="0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gw.neolab.net</a:t>
            </a:r>
            <a:r>
              <a:rPr lang="en-US" sz="12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북마크는 필수! 최초 접속 시 프로필을 업데이트하고, 구글 워크스페이스(Google Workspace) 연동이 정상적으로 되었는지 확인하세요.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rcRect l="-881" r="-881"/>
          <a:stretch/>
        </p:blipFill>
        <p:spPr>
          <a:xfrm>
            <a:off x="1404518" y="3619195"/>
            <a:ext cx="237744" cy="267005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2095805" y="3429000"/>
            <a:ext cx="5334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37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기안 먼저, 지출은 나중에</a:t>
            </a:r>
            <a:endParaRPr lang="en-US" sz="1700" dirty="0"/>
          </a:p>
        </p:txBody>
      </p:sp>
      <p:sp>
        <p:nvSpPr>
          <p:cNvPr id="21" name="Text 13"/>
          <p:cNvSpPr txBox="1"/>
          <p:nvPr/>
        </p:nvSpPr>
        <p:spPr>
          <a:xfrm>
            <a:off x="2095804" y="3810305"/>
            <a:ext cx="5428945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허락(기안/출장품의서) 없이 무단으로 비용(지출결의서)부터 집행하면 안 됩니다. 지출결의 시에는 영수증 등 객관적인 </a:t>
            </a:r>
            <a:r>
              <a:rPr lang="en-US" sz="12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증빙 서류 첨부가 필수</a:t>
            </a:r>
            <a:r>
              <a:rPr lang="en-US" sz="12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</a:t>
            </a:r>
            <a:endParaRPr lang="en-US" sz="12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5"/>
          <a:srcRect l="-881" r="-881"/>
          <a:stretch/>
        </p:blipFill>
        <p:spPr>
          <a:xfrm>
            <a:off x="1404518" y="5048402"/>
            <a:ext cx="237744" cy="26700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2095805" y="4858207"/>
            <a:ext cx="533461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kern="0" spc="-37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매월 15일 기억하기</a:t>
            </a:r>
            <a:endParaRPr lang="en-US" sz="1700" dirty="0"/>
          </a:p>
        </p:txBody>
      </p:sp>
      <p:sp>
        <p:nvSpPr>
          <p:cNvPr id="24" name="Text 15"/>
          <p:cNvSpPr txBox="1"/>
          <p:nvPr/>
        </p:nvSpPr>
        <p:spPr>
          <a:xfrm>
            <a:off x="2095805" y="5238598"/>
            <a:ext cx="52203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자금 집행 및 정산의 핵심 기준점은 </a:t>
            </a:r>
            <a:r>
              <a:rPr lang="en-US" sz="1200" b="1" dirty="0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매월 15일과 말일</a:t>
            </a:r>
            <a:r>
              <a:rPr lang="en-US" sz="12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 지급일 규칙에 맞춰 늦지 않게 전자결재를 상신하고 '완결' 상태를 만들어주세요.</a:t>
            </a:r>
            <a:endParaRPr lang="en-US" sz="12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6"/>
          <a:srcRect l="-365" r="-365"/>
          <a:stretch/>
        </p:blipFill>
        <p:spPr>
          <a:xfrm>
            <a:off x="9320479" y="2667305"/>
            <a:ext cx="599846" cy="476402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8247888" y="3810305"/>
            <a:ext cx="288683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처음엔 </a:t>
            </a:r>
            <a:r>
              <a:rPr lang="en-US" sz="1600" b="1" dirty="0" err="1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헷갈리는</a:t>
            </a:r>
            <a:r>
              <a:rPr lang="en-US" sz="16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게 </a:t>
            </a:r>
            <a:r>
              <a:rPr lang="en-US" sz="1600" b="1" dirty="0" err="1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당연합니다</a:t>
            </a:r>
            <a:r>
              <a:rPr lang="en-US" sz="16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17"/>
          <p:cNvSpPr txBox="1"/>
          <p:nvPr/>
        </p:nvSpPr>
        <p:spPr>
          <a:xfrm>
            <a:off x="8248802" y="4572000"/>
            <a:ext cx="2743200" cy="107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모르는 것이 생기면 혼자 고민하지 말고 언제든 옆자리 </a:t>
            </a:r>
            <a:r>
              <a:rPr lang="en-US" sz="1100" dirty="0" err="1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동료나</a:t>
            </a:r>
            <a:r>
              <a:rPr lang="en-US" sz="11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인사총무팀을</a:t>
            </a:r>
            <a:r>
              <a:rPr lang="en-US" sz="11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찾아주세요.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ko-KR" altLang="en-US" sz="1100" b="1" dirty="0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고민하지 말고 물어보세요</a:t>
            </a:r>
            <a:r>
              <a:rPr lang="en-US" altLang="ko-KR" sz="1100" b="1" dirty="0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-402" b="-402"/>
          <a:stretch/>
        </p:blipFill>
        <p:spPr>
          <a:xfrm>
            <a:off x="1429207" y="5238598"/>
            <a:ext cx="93341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524098" y="4095598"/>
            <a:ext cx="19202" cy="952805"/>
          </a:xfrm>
          <a:prstGeom prst="rect">
            <a:avLst/>
          </a:prstGeom>
          <a:solidFill>
            <a:srgbClr val="FF6720">
              <a:alpha val="50000"/>
            </a:srgbClr>
          </a:solidFill>
          <a:ln w="12700">
            <a:solidFill>
              <a:srgbClr val="FF672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8667598" y="4095598"/>
            <a:ext cx="19202" cy="952805"/>
          </a:xfrm>
          <a:prstGeom prst="rect">
            <a:avLst/>
          </a:prstGeom>
          <a:solidFill>
            <a:srgbClr val="53565A">
              <a:alpha val="50000"/>
            </a:srgbClr>
          </a:solidFill>
          <a:ln w="12700">
            <a:solidFill>
              <a:srgbClr val="5356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402" b="-402"/>
          <a:stretch/>
        </p:blipFill>
        <p:spPr>
          <a:xfrm>
            <a:off x="1429207" y="5238598"/>
            <a:ext cx="4667098" cy="57607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t="-402" b="-402"/>
          <a:stretch/>
        </p:blipFill>
        <p:spPr>
          <a:xfrm>
            <a:off x="6096305" y="5238598"/>
            <a:ext cx="4667098" cy="57607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 l="-1923" r="-1923"/>
          <a:stretch/>
        </p:blipFill>
        <p:spPr>
          <a:xfrm>
            <a:off x="3476244" y="4947818"/>
            <a:ext cx="123444" cy="190195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rcRect l="-1923" r="-1923"/>
          <a:stretch/>
        </p:blipFill>
        <p:spPr>
          <a:xfrm>
            <a:off x="8629269" y="4947818"/>
            <a:ext cx="123444" cy="190195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8"/>
          <a:srcRect l="-400" r="-400"/>
          <a:stretch/>
        </p:blipFill>
        <p:spPr>
          <a:xfrm>
            <a:off x="1429207" y="5095951"/>
            <a:ext cx="38405" cy="342900"/>
          </a:xfrm>
          <a:prstGeom prst="rect">
            <a:avLst/>
          </a:prstGeom>
        </p:spPr>
      </p:pic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9"/>
          <a:srcRect l="-400" r="-400"/>
          <a:stretch/>
        </p:blipFill>
        <p:spPr>
          <a:xfrm>
            <a:off x="6096305" y="5095951"/>
            <a:ext cx="38405" cy="342900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10"/>
          <a:srcRect l="-400" r="-400"/>
          <a:stretch/>
        </p:blipFill>
        <p:spPr>
          <a:xfrm>
            <a:off x="10763402" y="5095951"/>
            <a:ext cx="38405" cy="342900"/>
          </a:xfrm>
          <a:prstGeom prst="rect">
            <a:avLst/>
          </a:prstGeom>
        </p:spPr>
      </p:pic>
      <p:sp>
        <p:nvSpPr>
          <p:cNvPr id="14" name="Shape 4"/>
          <p:cNvSpPr/>
          <p:nvPr/>
        </p:nvSpPr>
        <p:spPr>
          <a:xfrm>
            <a:off x="8191195" y="571500"/>
            <a:ext cx="3258007" cy="972007"/>
          </a:xfrm>
          <a:prstGeom prst="roundRect">
            <a:avLst>
              <a:gd name="adj" fmla="val 14757"/>
            </a:avLst>
          </a:prstGeom>
          <a:solidFill>
            <a:srgbClr val="FF6720">
              <a:alpha val="5000"/>
            </a:srgbClr>
          </a:solidFill>
          <a:ln w="12700">
            <a:solidFill>
              <a:srgbClr val="FF67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8" descr="preencoded.png"/>
          <p:cNvPicPr>
            <a:picLocks noChangeAspect="1"/>
          </p:cNvPicPr>
          <p:nvPr/>
        </p:nvPicPr>
        <p:blipFill>
          <a:blip r:embed="rId11"/>
          <a:srcRect l="-4" r="-4"/>
          <a:stretch/>
        </p:blipFill>
        <p:spPr>
          <a:xfrm>
            <a:off x="1429207" y="2190902"/>
            <a:ext cx="4209898" cy="1971446"/>
          </a:xfrm>
          <a:prstGeom prst="rect">
            <a:avLst/>
          </a:prstGeom>
        </p:spPr>
      </p:pic>
      <p:pic>
        <p:nvPicPr>
          <p:cNvPr id="16" name="Image 9" descr="preencoded.png"/>
          <p:cNvPicPr>
            <a:picLocks noChangeAspect="1"/>
          </p:cNvPicPr>
          <p:nvPr/>
        </p:nvPicPr>
        <p:blipFill>
          <a:blip r:embed="rId12"/>
          <a:srcRect l="-4" r="-4"/>
          <a:stretch/>
        </p:blipFill>
        <p:spPr>
          <a:xfrm>
            <a:off x="6572707" y="2190902"/>
            <a:ext cx="4209898" cy="1971446"/>
          </a:xfrm>
          <a:prstGeom prst="rect">
            <a:avLst/>
          </a:prstGeom>
        </p:spPr>
      </p:pic>
      <p:sp>
        <p:nvSpPr>
          <p:cNvPr id="17" name="Shape 5"/>
          <p:cNvSpPr/>
          <p:nvPr/>
        </p:nvSpPr>
        <p:spPr>
          <a:xfrm>
            <a:off x="1714500" y="2476195"/>
            <a:ext cx="838505" cy="304495"/>
          </a:xfrm>
          <a:prstGeom prst="roundRect">
            <a:avLst>
              <a:gd name="adj" fmla="val 300300"/>
            </a:avLst>
          </a:prstGeom>
          <a:solidFill>
            <a:srgbClr val="FF67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6"/>
          <p:cNvSpPr/>
          <p:nvPr/>
        </p:nvSpPr>
        <p:spPr>
          <a:xfrm>
            <a:off x="1714500" y="3429000"/>
            <a:ext cx="3619195" cy="457200"/>
          </a:xfrm>
          <a:prstGeom prst="roundRect">
            <a:avLst>
              <a:gd name="adj" fmla="val 50000"/>
            </a:avLst>
          </a:prstGeom>
          <a:solidFill>
            <a:srgbClr val="FF672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7"/>
          <p:cNvSpPr/>
          <p:nvPr/>
        </p:nvSpPr>
        <p:spPr>
          <a:xfrm>
            <a:off x="6858000" y="2476195"/>
            <a:ext cx="838505" cy="304495"/>
          </a:xfrm>
          <a:prstGeom prst="roundRect">
            <a:avLst>
              <a:gd name="adj" fmla="val 300300"/>
            </a:avLst>
          </a:prstGeom>
          <a:solidFill>
            <a:srgbClr val="5356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8"/>
          <p:cNvSpPr/>
          <p:nvPr/>
        </p:nvSpPr>
        <p:spPr>
          <a:xfrm>
            <a:off x="6858000" y="3429000"/>
            <a:ext cx="3619195" cy="457200"/>
          </a:xfrm>
          <a:prstGeom prst="roundRect">
            <a:avLst>
              <a:gd name="adj" fmla="val 50000"/>
            </a:avLst>
          </a:prstGeom>
          <a:solidFill>
            <a:srgbClr val="53565A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9"/>
          <p:cNvSpPr txBox="1"/>
          <p:nvPr/>
        </p:nvSpPr>
        <p:spPr>
          <a:xfrm>
            <a:off x="761695" y="571500"/>
            <a:ext cx="68580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75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자금 집행일 규칙 </a:t>
            </a:r>
            <a:r>
              <a:rPr lang="en-US" sz="1900" b="1" kern="0" spc="-75" dirty="0">
                <a:solidFill>
                  <a:srgbClr val="9EA2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타임라인</a:t>
            </a:r>
            <a:endParaRPr lang="en-US" sz="2500" dirty="0"/>
          </a:p>
        </p:txBody>
      </p:sp>
      <p:sp>
        <p:nvSpPr>
          <p:cNvPr id="22" name="Text 10"/>
          <p:cNvSpPr txBox="1"/>
          <p:nvPr/>
        </p:nvSpPr>
        <p:spPr>
          <a:xfrm>
            <a:off x="761695" y="1143000"/>
            <a:ext cx="722010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kern="0" spc="-37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네오랩의 자금 이체일은 한 달에 딱 두 번, </a:t>
            </a:r>
            <a:r>
              <a:rPr lang="en-US" sz="1500" b="1" kern="0" spc="-37" dirty="0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15일과 말일</a:t>
            </a:r>
            <a:r>
              <a:rPr lang="en-US" sz="1500" kern="0" spc="-37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</a:t>
            </a:r>
            <a:endParaRPr lang="en-US" sz="1500" dirty="0"/>
          </a:p>
          <a:p>
            <a:pPr marL="0" indent="0" algn="l">
              <a:buNone/>
            </a:pPr>
            <a:r>
              <a:rPr lang="en-US" sz="1500" kern="0" spc="-37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기준은 지출결의서가 </a:t>
            </a:r>
            <a:r>
              <a:rPr lang="en-US" sz="1500" b="1" kern="0" spc="-37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'완결'</a:t>
            </a:r>
            <a:r>
              <a:rPr lang="en-US" sz="1500" kern="0" spc="-37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된 날짜를 따릅니다.</a:t>
            </a:r>
            <a:endParaRPr lang="en-US" sz="1500" dirty="0"/>
          </a:p>
        </p:txBody>
      </p:sp>
      <p:pic>
        <p:nvPicPr>
          <p:cNvPr id="23" name="Image 10" descr="preencoded.png"/>
          <p:cNvPicPr>
            <a:picLocks noChangeAspect="1"/>
          </p:cNvPicPr>
          <p:nvPr/>
        </p:nvPicPr>
        <p:blipFill>
          <a:blip r:embed="rId13"/>
          <a:srcRect l="-133" r="-133"/>
          <a:stretch/>
        </p:blipFill>
        <p:spPr>
          <a:xfrm>
            <a:off x="8429854" y="743407"/>
            <a:ext cx="171907" cy="228600"/>
          </a:xfrm>
          <a:prstGeom prst="rect">
            <a:avLst/>
          </a:prstGeom>
        </p:spPr>
      </p:pic>
      <p:sp>
        <p:nvSpPr>
          <p:cNvPr id="24" name="Text 11"/>
          <p:cNvSpPr txBox="1"/>
          <p:nvPr/>
        </p:nvSpPr>
        <p:spPr>
          <a:xfrm>
            <a:off x="8810244" y="705002"/>
            <a:ext cx="2667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긴급 집행이 필요한 경우</a:t>
            </a:r>
            <a:endParaRPr lang="en-US" sz="1200" dirty="0"/>
          </a:p>
        </p:txBody>
      </p:sp>
      <p:sp>
        <p:nvSpPr>
          <p:cNvPr id="25" name="Text 12"/>
          <p:cNvSpPr txBox="1"/>
          <p:nvPr/>
        </p:nvSpPr>
        <p:spPr>
          <a:xfrm>
            <a:off x="8810244" y="990295"/>
            <a:ext cx="255300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정규일 외 긴급 </a:t>
            </a:r>
            <a:r>
              <a:rPr lang="en-US" sz="1000" dirty="0" err="1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이체는</a:t>
            </a:r>
            <a:r>
              <a:rPr lang="en-US" sz="10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재무회계팀에 별 도 요청 바랍니다</a:t>
            </a:r>
            <a:r>
              <a:rPr lang="en-US" altLang="ko-KR" sz="1000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000" dirty="0"/>
          </a:p>
        </p:txBody>
      </p:sp>
      <p:sp>
        <p:nvSpPr>
          <p:cNvPr id="26" name="Text 13"/>
          <p:cNvSpPr txBox="1"/>
          <p:nvPr/>
        </p:nvSpPr>
        <p:spPr>
          <a:xfrm>
            <a:off x="1676095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Rule 1</a:t>
            </a:r>
            <a:endParaRPr lang="en-US" sz="1100" dirty="0"/>
          </a:p>
        </p:txBody>
      </p:sp>
      <p:sp>
        <p:nvSpPr>
          <p:cNvPr id="27" name="Text 14"/>
          <p:cNvSpPr txBox="1"/>
          <p:nvPr/>
        </p:nvSpPr>
        <p:spPr>
          <a:xfrm>
            <a:off x="1714500" y="2952598"/>
            <a:ext cx="3734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37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매월 1일 ~ 15일 이전 완결</a:t>
            </a:r>
            <a:endParaRPr lang="en-US" sz="1800" dirty="0"/>
          </a:p>
        </p:txBody>
      </p:sp>
      <p:sp>
        <p:nvSpPr>
          <p:cNvPr id="28" name="Text 15"/>
          <p:cNvSpPr txBox="1"/>
          <p:nvPr/>
        </p:nvSpPr>
        <p:spPr>
          <a:xfrm>
            <a:off x="2133295" y="3524098"/>
            <a:ext cx="32488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37" dirty="0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당월 말일에 입금됩니다</a:t>
            </a:r>
            <a:endParaRPr lang="en-US" sz="150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4"/>
          <a:srcRect t="-1412" b="-1412"/>
          <a:stretch/>
        </p:blipFill>
        <p:spPr>
          <a:xfrm>
            <a:off x="1857146" y="3576218"/>
            <a:ext cx="161849" cy="190195"/>
          </a:xfrm>
          <a:prstGeom prst="rect">
            <a:avLst/>
          </a:prstGeom>
        </p:spPr>
      </p:pic>
      <p:sp>
        <p:nvSpPr>
          <p:cNvPr id="30" name="Text 16"/>
          <p:cNvSpPr txBox="1"/>
          <p:nvPr/>
        </p:nvSpPr>
        <p:spPr>
          <a:xfrm>
            <a:off x="6819595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Rule 2</a:t>
            </a:r>
            <a:endParaRPr lang="en-US" sz="1100" dirty="0"/>
          </a:p>
        </p:txBody>
      </p:sp>
      <p:sp>
        <p:nvSpPr>
          <p:cNvPr id="31" name="Text 17"/>
          <p:cNvSpPr txBox="1"/>
          <p:nvPr/>
        </p:nvSpPr>
        <p:spPr>
          <a:xfrm>
            <a:off x="6858000" y="2952598"/>
            <a:ext cx="3810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-37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매월 15일 이후 ~ 말일 완결</a:t>
            </a:r>
            <a:endParaRPr lang="en-US" sz="1800" dirty="0"/>
          </a:p>
        </p:txBody>
      </p:sp>
      <p:sp>
        <p:nvSpPr>
          <p:cNvPr id="32" name="Text 18"/>
          <p:cNvSpPr txBox="1"/>
          <p:nvPr/>
        </p:nvSpPr>
        <p:spPr>
          <a:xfrm>
            <a:off x="7276795" y="3524098"/>
            <a:ext cx="32488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-37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달 15일에 입금됩니다</a:t>
            </a:r>
            <a:endParaRPr lang="en-US" sz="15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5"/>
          <a:srcRect t="-1412" b="-1412"/>
          <a:stretch/>
        </p:blipFill>
        <p:spPr>
          <a:xfrm>
            <a:off x="7000646" y="3576218"/>
            <a:ext cx="161849" cy="190195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1104595" y="5572354"/>
            <a:ext cx="6858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7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1일</a:t>
            </a:r>
            <a:endParaRPr lang="en-US" sz="1500" dirty="0"/>
          </a:p>
        </p:txBody>
      </p:sp>
      <p:sp>
        <p:nvSpPr>
          <p:cNvPr id="35" name="Text 20"/>
          <p:cNvSpPr txBox="1"/>
          <p:nvPr/>
        </p:nvSpPr>
        <p:spPr>
          <a:xfrm>
            <a:off x="5772607" y="5572354"/>
            <a:ext cx="6858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252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15일</a:t>
            </a:r>
            <a:endParaRPr lang="en-US" sz="1500" dirty="0"/>
          </a:p>
        </p:txBody>
      </p:sp>
      <p:sp>
        <p:nvSpPr>
          <p:cNvPr id="36" name="Text 21"/>
          <p:cNvSpPr txBox="1"/>
          <p:nvPr/>
        </p:nvSpPr>
        <p:spPr>
          <a:xfrm>
            <a:off x="10258654" y="5572354"/>
            <a:ext cx="10479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356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말일</a:t>
            </a:r>
            <a:r>
              <a:rPr lang="en-US" sz="1000" b="1" dirty="0">
                <a:solidFill>
                  <a:srgbClr val="9EA2A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(30/31일)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1048</Words>
  <Application>Microsoft Office PowerPoint</Application>
  <PresentationFormat>와이드스크린</PresentationFormat>
  <Paragraphs>160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정선웅</cp:lastModifiedBy>
  <cp:revision>5</cp:revision>
  <dcterms:created xsi:type="dcterms:W3CDTF">2026-04-14T07:44:22Z</dcterms:created>
  <dcterms:modified xsi:type="dcterms:W3CDTF">2026-04-14T08:35:14Z</dcterms:modified>
</cp:coreProperties>
</file>