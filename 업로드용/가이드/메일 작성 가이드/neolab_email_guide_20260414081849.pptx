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79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23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2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9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5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4" Type="http://schemas.openxmlformats.org/officeDocument/2006/relationships/image" Target="../media/image83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571500" y="571500"/>
            <a:ext cx="11048695" cy="5715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4195" y="381305"/>
            <a:ext cx="2095805" cy="2095805"/>
          </a:xfrm>
          <a:prstGeom prst="ellipse">
            <a:avLst/>
          </a:prstGeom>
          <a:solidFill>
            <a:srgbClr val="FFF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715000" y="4381805"/>
            <a:ext cx="1333195" cy="13331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4762195"/>
            <a:ext cx="571500" cy="3840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 rot="21480000">
            <a:off x="2714854" y="5381244"/>
            <a:ext cx="1335938" cy="14173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23798" y="1410005"/>
            <a:ext cx="1562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NeoLAB Guide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2156612"/>
            <a:ext cx="5429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600" b="1" kern="0" spc="-37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완벽한 소통을 위한</a:t>
            </a:r>
            <a:endParaRPr lang="en-US" altLang="ko-KR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2628900"/>
            <a:ext cx="5544007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2823667"/>
            <a:ext cx="5544007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12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 작성</a:t>
            </a:r>
            <a:r>
              <a:rPr lang="en-US" sz="4000" b="1" kern="0" spc="-112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가이드</a:t>
            </a:r>
            <a:endParaRPr lang="en-US" sz="40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3905402"/>
            <a:ext cx="52959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37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</a:t>
            </a:r>
            <a:r>
              <a:rPr lang="en-US" sz="15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kern="0" spc="-37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입사자를</a:t>
            </a:r>
            <a:r>
              <a:rPr lang="en-US" sz="15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kern="0" spc="-37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위한</a:t>
            </a:r>
            <a:r>
              <a:rPr lang="en-US" sz="15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Google Workspace </a:t>
            </a:r>
            <a:r>
              <a:rPr lang="en-US" sz="1500" kern="0" spc="-37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</a:t>
            </a:r>
            <a:r>
              <a:rPr lang="en-US" sz="15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kern="0" spc="-37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</a:t>
            </a:r>
            <a:r>
              <a:rPr lang="en-US" sz="15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kern="0" spc="-37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매뉴얼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A409428-CA63-EA2C-7F53-16728180BA29}"/>
              </a:ext>
            </a:extLst>
          </p:cNvPr>
          <p:cNvSpPr txBox="1"/>
          <p:nvPr/>
        </p:nvSpPr>
        <p:spPr>
          <a:xfrm>
            <a:off x="1143000" y="1090909"/>
            <a:ext cx="308518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kern="0" spc="-75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</a:t>
            </a:r>
            <a:r>
              <a:rPr lang="en-US" sz="2100" b="1" kern="0" spc="-75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LAB </a:t>
            </a:r>
          </a:p>
          <a:p>
            <a:r>
              <a:rPr lang="en-US" altLang="ko-KR" sz="2100" b="1" kern="0" spc="-75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Convergence</a:t>
            </a:r>
            <a:endParaRPr lang="en-US" sz="2100" dirty="0">
              <a:solidFill>
                <a:srgbClr val="FF6720"/>
              </a:solidFill>
            </a:endParaRP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A307556A-B8DC-2D55-4984-B055EED6B1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143000" y="2000707"/>
            <a:ext cx="571500" cy="57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715500" y="571500"/>
            <a:ext cx="780898" cy="342900"/>
          </a:xfrm>
          <a:prstGeom prst="roundRect">
            <a:avLst>
              <a:gd name="adj" fmla="val 266667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573207" y="571500"/>
            <a:ext cx="1104595" cy="362102"/>
          </a:xfrm>
          <a:prstGeom prst="roundRect">
            <a:avLst>
              <a:gd name="adj" fmla="val 239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571500" y="1714500"/>
            <a:ext cx="2857500" cy="36191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10305" y="1714500"/>
            <a:ext cx="7810805" cy="952805"/>
          </a:xfrm>
          <a:prstGeom prst="roundRect">
            <a:avLst>
              <a:gd name="adj" fmla="val 30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810305" y="3047695"/>
            <a:ext cx="7848295" cy="952805"/>
          </a:xfrm>
          <a:prstGeom prst="roundRect">
            <a:avLst>
              <a:gd name="adj" fmla="val 3071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810305" y="3047695"/>
            <a:ext cx="38405" cy="952805"/>
          </a:xfrm>
          <a:prstGeom prst="roundRect">
            <a:avLst>
              <a:gd name="adj" fmla="val 761901"/>
            </a:avLst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810305" y="4381805"/>
            <a:ext cx="7810805" cy="952805"/>
          </a:xfrm>
          <a:prstGeom prst="roundRect">
            <a:avLst>
              <a:gd name="adj" fmla="val 30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51" r="-51"/>
          <a:stretch/>
        </p:blipFill>
        <p:spPr>
          <a:xfrm>
            <a:off x="3429000" y="2190902"/>
            <a:ext cx="381305" cy="1333195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3429000" y="3514496"/>
            <a:ext cx="381305" cy="19202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51" r="-51"/>
          <a:stretch/>
        </p:blipFill>
        <p:spPr>
          <a:xfrm>
            <a:off x="3436772" y="3524554"/>
            <a:ext cx="381305" cy="133319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71500" y="5715000"/>
            <a:ext cx="11048695" cy="571500"/>
          </a:xfrm>
          <a:prstGeom prst="roundRect">
            <a:avLst>
              <a:gd name="adj" fmla="val 64000"/>
            </a:avLst>
          </a:prstGeom>
          <a:solidFill>
            <a:srgbClr val="FFF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1500" y="1714500"/>
            <a:ext cx="2857500" cy="5715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000500" y="2048256"/>
            <a:ext cx="286207" cy="286207"/>
          </a:xfrm>
          <a:prstGeom prst="ellipse">
            <a:avLst/>
          </a:prstGeom>
          <a:solidFill>
            <a:srgbClr val="FFF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1"/>
          <p:cNvSpPr/>
          <p:nvPr/>
        </p:nvSpPr>
        <p:spPr>
          <a:xfrm>
            <a:off x="6667805" y="2076602"/>
            <a:ext cx="990295" cy="228600"/>
          </a:xfrm>
          <a:prstGeom prst="roundRect">
            <a:avLst>
              <a:gd name="adj" fmla="val 400000"/>
            </a:avLst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4000500" y="3381451"/>
            <a:ext cx="286207" cy="286207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6667805" y="3409798"/>
            <a:ext cx="990295" cy="228600"/>
          </a:xfrm>
          <a:prstGeom prst="roundRect">
            <a:avLst>
              <a:gd name="adj" fmla="val 400000"/>
            </a:avLst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4000500" y="4714646"/>
            <a:ext cx="286207" cy="286207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6667805" y="4743907"/>
            <a:ext cx="990295" cy="228600"/>
          </a:xfrm>
          <a:prstGeom prst="roundRect">
            <a:avLst>
              <a:gd name="adj" fmla="val 400000"/>
            </a:avLst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395" y="647395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04595" y="629107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1904695" y="571500"/>
            <a:ext cx="5906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 vs 메신저 선택 기준</a:t>
            </a:r>
            <a:endParaRPr lang="en-US" sz="2100" dirty="0"/>
          </a:p>
        </p:txBody>
      </p:sp>
      <p:sp>
        <p:nvSpPr>
          <p:cNvPr id="26" name="Text 18"/>
          <p:cNvSpPr txBox="1"/>
          <p:nvPr/>
        </p:nvSpPr>
        <p:spPr>
          <a:xfrm>
            <a:off x="1104595" y="990295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목적에 맞는 커뮤니케이션 도구를 선택하세요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9677095" y="647395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0529316" y="647395"/>
            <a:ext cx="11731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</a:t>
            </a:r>
            <a:endParaRPr lang="en-US" sz="1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1867205"/>
            <a:ext cx="267005" cy="26700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143000" y="1886407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질문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814730" y="2952598"/>
            <a:ext cx="2371954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목적이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무엇인가요?</a:t>
            </a:r>
            <a:endParaRPr lang="en-US" sz="18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048049" y="2095805"/>
            <a:ext cx="190195" cy="19019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381805" y="207660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공식적 승인/비용 발생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6627571" y="2095805"/>
            <a:ext cx="106984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전자결재</a:t>
            </a:r>
            <a:endParaRPr lang="en-US" sz="900" dirty="0"/>
          </a:p>
        </p:txBody>
      </p:sp>
      <p:sp>
        <p:nvSpPr>
          <p:cNvPr id="35" name="Text 25"/>
          <p:cNvSpPr txBox="1"/>
          <p:nvPr/>
        </p:nvSpPr>
        <p:spPr>
          <a:xfrm>
            <a:off x="7810805" y="1981505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기안품의서 / 지출결의서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7810805" y="2219249"/>
            <a:ext cx="3810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상신 후 진행 상황 공유용으로만 메신저/메일 활용</a:t>
            </a:r>
            <a:endParaRPr lang="en-US" sz="9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048049" y="3429000"/>
            <a:ext cx="190195" cy="190195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4381805" y="3409798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소통/기록 보존/다수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6592824" y="3429000"/>
            <a:ext cx="11393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3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Mail</a:t>
            </a:r>
            <a:endParaRPr lang="en-US" sz="900" dirty="0"/>
          </a:p>
        </p:txBody>
      </p:sp>
      <p:sp>
        <p:nvSpPr>
          <p:cNvPr id="40" name="Text 29"/>
          <p:cNvSpPr txBox="1"/>
          <p:nvPr/>
        </p:nvSpPr>
        <p:spPr>
          <a:xfrm>
            <a:off x="7810805" y="3314700"/>
            <a:ext cx="3734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Workspace Mail</a:t>
            </a:r>
            <a:endParaRPr lang="en-US" sz="1100" dirty="0"/>
          </a:p>
        </p:txBody>
      </p:sp>
      <p:sp>
        <p:nvSpPr>
          <p:cNvPr id="41" name="Text 30"/>
          <p:cNvSpPr txBox="1"/>
          <p:nvPr/>
        </p:nvSpPr>
        <p:spPr>
          <a:xfrm>
            <a:off x="7810805" y="3552444"/>
            <a:ext cx="3734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@neolab.net 계정 활용 핵심 비즈니스 소통</a:t>
            </a:r>
            <a:endParaRPr lang="en-US" sz="9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48049" y="4762195"/>
            <a:ext cx="190195" cy="19019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4381805" y="4743907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확인/간단한 협의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6592824" y="4762195"/>
            <a:ext cx="11393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7810805" y="4647895"/>
            <a:ext cx="3734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Chat / 사내 메신저</a:t>
            </a:r>
            <a:endParaRPr lang="en-US" sz="1100" dirty="0"/>
          </a:p>
        </p:txBody>
      </p:sp>
      <p:sp>
        <p:nvSpPr>
          <p:cNvPr id="46" name="Text 34"/>
          <p:cNvSpPr txBox="1"/>
          <p:nvPr/>
        </p:nvSpPr>
        <p:spPr>
          <a:xfrm>
            <a:off x="7810805" y="4886554"/>
            <a:ext cx="3810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가벼운 질의응답 및 즉각적인 피드백</a:t>
            </a:r>
            <a:endParaRPr lang="en-US" sz="9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61695" y="5886907"/>
            <a:ext cx="228600" cy="22860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1143000" y="5886907"/>
            <a:ext cx="971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메일은 회사의 공식적인 </a:t>
            </a:r>
            <a:r>
              <a:rPr lang="en-US" sz="12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'기록'</a:t>
            </a: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이자 당신의 업무 </a:t>
            </a:r>
            <a:r>
              <a:rPr lang="en-US" sz="12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'히스토리'</a:t>
            </a: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0EB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305" y="3810305"/>
            <a:ext cx="2667305" cy="2667305"/>
          </a:xfrm>
          <a:prstGeom prst="ellipse">
            <a:avLst/>
          </a:prstGeom>
          <a:solidFill>
            <a:srgbClr val="E0F7F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5715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3715207" y="1524305"/>
            <a:ext cx="4781398" cy="459120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38" r="-38"/>
          <a:stretch/>
        </p:blipFill>
        <p:spPr>
          <a:xfrm>
            <a:off x="3715207" y="1524305"/>
            <a:ext cx="4762195" cy="4663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15207" y="2438705"/>
            <a:ext cx="47621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3715207" y="2895905"/>
            <a:ext cx="47621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3905402" y="5143500"/>
            <a:ext cx="4381805" cy="342900"/>
          </a:xfrm>
          <a:prstGeom prst="roundRect">
            <a:avLst>
              <a:gd name="adj" fmla="val 8888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3905402" y="5600700"/>
            <a:ext cx="857707" cy="342900"/>
          </a:xfrm>
          <a:prstGeom prst="roundRect">
            <a:avLst>
              <a:gd name="adj" fmla="val 266667"/>
            </a:avLst>
          </a:prstGeom>
          <a:solidFill>
            <a:srgbClr val="0A66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3905402" y="1695298"/>
            <a:ext cx="114300" cy="11430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095598" y="1695298"/>
            <a:ext cx="114300" cy="11430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4286707" y="1695298"/>
            <a:ext cx="114300" cy="11430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4381805" y="1638605"/>
            <a:ext cx="3429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메시지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905402" y="2095805"/>
            <a:ext cx="44961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받는사람 </a:t>
            </a: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담당자@neolab.net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숨은참조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905402" y="2553005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</a:t>
            </a: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</a:t>
            </a: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 </a:t>
            </a:r>
            <a:r>
              <a:rPr lang="ko-KR" alt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명함 소진에 따른 명함 추가 요청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905402" y="304769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안녕하세요.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3905402" y="362925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후 진행 부탁드립니다.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3905402" y="397215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905402" y="3390595"/>
            <a:ext cx="3685946" cy="237744"/>
          </a:xfrm>
          <a:prstGeom prst="roundRect">
            <a:avLst>
              <a:gd name="adj" fmla="val 123077"/>
            </a:avLst>
          </a:prstGeom>
          <a:solidFill>
            <a:srgbClr val="4CAF5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3905402" y="3390595"/>
            <a:ext cx="4305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25400" rIns="381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요청하신 신규 입사자 명함 신청서를 첨부와 같이 제출합니다.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00500" y="5219395"/>
            <a:ext cx="190195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866998" y="5667451"/>
            <a:ext cx="933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보내기</a:t>
            </a:r>
            <a:endParaRPr lang="en-US" sz="10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7395" y="647395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104595" y="629107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가이드라인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904695" y="571500"/>
            <a:ext cx="5906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 쓰여진 메일의 해부도</a:t>
            </a:r>
            <a:endParaRPr lang="en-US" sz="2100" dirty="0"/>
          </a:p>
        </p:txBody>
      </p:sp>
      <p:sp>
        <p:nvSpPr>
          <p:cNvPr id="29" name="Text 23"/>
          <p:cNvSpPr txBox="1"/>
          <p:nvPr/>
        </p:nvSpPr>
        <p:spPr>
          <a:xfrm>
            <a:off x="1104595" y="990295"/>
            <a:ext cx="6096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화면 위, 아날로그적인 세심함을 더하세요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61695" y="1714500"/>
            <a:ext cx="2476195" cy="1333195"/>
          </a:xfrm>
          <a:prstGeom prst="roundRect">
            <a:avLst>
              <a:gd name="adj" fmla="val 156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t="-16" b="-16"/>
          <a:stretch/>
        </p:blipFill>
        <p:spPr>
          <a:xfrm>
            <a:off x="3238805" y="2190902"/>
            <a:ext cx="571500" cy="47640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8953805" y="1714500"/>
            <a:ext cx="2476195" cy="1333195"/>
          </a:xfrm>
          <a:prstGeom prst="roundRect">
            <a:avLst>
              <a:gd name="adj" fmla="val 156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t="-51" b="-51"/>
          <a:stretch/>
        </p:blipFill>
        <p:spPr>
          <a:xfrm>
            <a:off x="8287207" y="2000707"/>
            <a:ext cx="666598" cy="381305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761695" y="3619195"/>
            <a:ext cx="2476195" cy="1333195"/>
          </a:xfrm>
          <a:prstGeom prst="roundRect">
            <a:avLst>
              <a:gd name="adj" fmla="val 156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3238805" y="3619195"/>
            <a:ext cx="666598" cy="476402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8953805" y="3619195"/>
            <a:ext cx="2476195" cy="1333195"/>
          </a:xfrm>
          <a:prstGeom prst="roundRect">
            <a:avLst>
              <a:gd name="adj" fmla="val 156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rcRect l="-11" r="-11"/>
          <a:stretch/>
        </p:blipFill>
        <p:spPr>
          <a:xfrm>
            <a:off x="8096098" y="4286707"/>
            <a:ext cx="857707" cy="952805"/>
          </a:xfrm>
          <a:prstGeom prst="rect">
            <a:avLst/>
          </a:prstGeom>
        </p:spPr>
      </p:pic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 t="-406" b="-406"/>
          <a:stretch/>
        </p:blipFill>
        <p:spPr>
          <a:xfrm>
            <a:off x="761695" y="1714500"/>
            <a:ext cx="2476195" cy="57607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952805" y="1904695"/>
            <a:ext cx="267005" cy="267005"/>
          </a:xfrm>
          <a:prstGeom prst="ellipse">
            <a:avLst/>
          </a:prstGeom>
          <a:solidFill>
            <a:srgbClr val="FFF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rcRect l="-2089" r="-2089"/>
          <a:stretch/>
        </p:blipFill>
        <p:spPr>
          <a:xfrm>
            <a:off x="952805" y="2247595"/>
            <a:ext cx="2095805" cy="9144"/>
          </a:xfrm>
          <a:prstGeom prst="rect">
            <a:avLst/>
          </a:prstGeom>
        </p:spPr>
      </p:pic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3"/>
          <a:srcRect t="-406" b="-406"/>
          <a:stretch/>
        </p:blipFill>
        <p:spPr>
          <a:xfrm>
            <a:off x="8953805" y="1714500"/>
            <a:ext cx="2476195" cy="57607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9144000" y="1904695"/>
            <a:ext cx="267005" cy="267005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2"/>
          <a:srcRect l="-2089" r="-2089"/>
          <a:stretch/>
        </p:blipFill>
        <p:spPr>
          <a:xfrm>
            <a:off x="9144000" y="2247595"/>
            <a:ext cx="2095805" cy="9144"/>
          </a:xfrm>
          <a:prstGeom prst="rect">
            <a:avLst/>
          </a:prstGeom>
        </p:spPr>
      </p:pic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4"/>
          <a:srcRect t="-406" b="-406"/>
          <a:stretch/>
        </p:blipFill>
        <p:spPr>
          <a:xfrm>
            <a:off x="761695" y="3619195"/>
            <a:ext cx="2476195" cy="57607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952805" y="3810305"/>
            <a:ext cx="267005" cy="267005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2"/>
          <a:srcRect l="-2089" r="-2089"/>
          <a:stretch/>
        </p:blipFill>
        <p:spPr>
          <a:xfrm>
            <a:off x="952805" y="4153205"/>
            <a:ext cx="2095805" cy="9144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t="-406" b="-406"/>
          <a:stretch/>
        </p:blipFill>
        <p:spPr>
          <a:xfrm>
            <a:off x="8953805" y="3619195"/>
            <a:ext cx="2476195" cy="57607"/>
          </a:xfrm>
          <a:prstGeom prst="rect">
            <a:avLst/>
          </a:prstGeom>
        </p:spPr>
      </p:pic>
      <p:sp>
        <p:nvSpPr>
          <p:cNvPr id="48" name="Shape 31"/>
          <p:cNvSpPr/>
          <p:nvPr/>
        </p:nvSpPr>
        <p:spPr>
          <a:xfrm>
            <a:off x="9144000" y="3810305"/>
            <a:ext cx="267005" cy="267005"/>
          </a:xfrm>
          <a:prstGeom prst="ellipse">
            <a:avLst/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2"/>
          <a:srcRect l="-2089" r="-2089"/>
          <a:stretch/>
        </p:blipFill>
        <p:spPr>
          <a:xfrm>
            <a:off x="9144000" y="4153205"/>
            <a:ext cx="2095805" cy="9144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914400" y="1904695"/>
            <a:ext cx="342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51" name="Text 33"/>
          <p:cNvSpPr txBox="1"/>
          <p:nvPr/>
        </p:nvSpPr>
        <p:spPr>
          <a:xfrm>
            <a:off x="1295705" y="1923898"/>
            <a:ext cx="17913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(Subject)</a:t>
            </a:r>
            <a:endParaRPr lang="en-US" sz="1300" dirty="0"/>
          </a:p>
        </p:txBody>
      </p:sp>
      <p:sp>
        <p:nvSpPr>
          <p:cNvPr id="52" name="Text 34"/>
          <p:cNvSpPr txBox="1"/>
          <p:nvPr/>
        </p:nvSpPr>
        <p:spPr>
          <a:xfrm>
            <a:off x="952805" y="2381098"/>
            <a:ext cx="22631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[말머리] 핵심 요약 _기한</a:t>
            </a:r>
            <a:endParaRPr lang="en-US" sz="1000" dirty="0"/>
          </a:p>
        </p:txBody>
      </p:sp>
      <p:sp>
        <p:nvSpPr>
          <p:cNvPr id="53" name="Text 35"/>
          <p:cNvSpPr txBox="1"/>
          <p:nvPr/>
        </p:nvSpPr>
        <p:spPr>
          <a:xfrm>
            <a:off x="952805" y="2628900"/>
            <a:ext cx="22631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메일의 첫인상이자 검색의 키(Key)</a:t>
            </a:r>
            <a:endParaRPr lang="en-US" sz="900" dirty="0"/>
          </a:p>
        </p:txBody>
      </p:sp>
      <p:sp>
        <p:nvSpPr>
          <p:cNvPr id="54" name="Text 36"/>
          <p:cNvSpPr txBox="1"/>
          <p:nvPr/>
        </p:nvSpPr>
        <p:spPr>
          <a:xfrm>
            <a:off x="9105595" y="1904695"/>
            <a:ext cx="342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3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55" name="Text 37"/>
          <p:cNvSpPr txBox="1"/>
          <p:nvPr/>
        </p:nvSpPr>
        <p:spPr>
          <a:xfrm>
            <a:off x="9486900" y="1923898"/>
            <a:ext cx="17913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수신/참조 (To/CC)</a:t>
            </a:r>
            <a:endParaRPr lang="en-US" sz="1300" dirty="0"/>
          </a:p>
        </p:txBody>
      </p:sp>
      <p:sp>
        <p:nvSpPr>
          <p:cNvPr id="56" name="Text 38"/>
          <p:cNvSpPr txBox="1"/>
          <p:nvPr/>
        </p:nvSpPr>
        <p:spPr>
          <a:xfrm>
            <a:off x="9144000" y="2381098"/>
            <a:ext cx="22631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R&amp;R(역할과 책임) 명확화</a:t>
            </a:r>
            <a:endParaRPr lang="en-US" sz="1000" dirty="0"/>
          </a:p>
        </p:txBody>
      </p:sp>
      <p:sp>
        <p:nvSpPr>
          <p:cNvPr id="57" name="Text 39"/>
          <p:cNvSpPr txBox="1"/>
          <p:nvPr/>
        </p:nvSpPr>
        <p:spPr>
          <a:xfrm>
            <a:off x="9144000" y="2628900"/>
            <a:ext cx="22631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행동하고 누가 알아야 하는가?</a:t>
            </a:r>
            <a:endParaRPr lang="en-US" sz="900" dirty="0"/>
          </a:p>
        </p:txBody>
      </p:sp>
      <p:sp>
        <p:nvSpPr>
          <p:cNvPr id="58" name="Text 40"/>
          <p:cNvSpPr txBox="1"/>
          <p:nvPr/>
        </p:nvSpPr>
        <p:spPr>
          <a:xfrm>
            <a:off x="914400" y="3810305"/>
            <a:ext cx="342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Text 41"/>
          <p:cNvSpPr txBox="1"/>
          <p:nvPr/>
        </p:nvSpPr>
        <p:spPr>
          <a:xfrm>
            <a:off x="1295705" y="3829507"/>
            <a:ext cx="17913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(Body)</a:t>
            </a:r>
            <a:endParaRPr lang="en-US" sz="1300" dirty="0"/>
          </a:p>
        </p:txBody>
      </p:sp>
      <p:sp>
        <p:nvSpPr>
          <p:cNvPr id="60" name="Text 42"/>
          <p:cNvSpPr txBox="1"/>
          <p:nvPr/>
        </p:nvSpPr>
        <p:spPr>
          <a:xfrm>
            <a:off x="952805" y="4286707"/>
            <a:ext cx="2179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역피라미드(BLUF) 구조</a:t>
            </a:r>
            <a:endParaRPr lang="en-US" sz="1000" dirty="0"/>
          </a:p>
        </p:txBody>
      </p:sp>
      <p:sp>
        <p:nvSpPr>
          <p:cNvPr id="61" name="Text 43"/>
          <p:cNvSpPr txBox="1"/>
          <p:nvPr/>
        </p:nvSpPr>
        <p:spPr>
          <a:xfrm>
            <a:off x="952805" y="4533595"/>
            <a:ext cx="22631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결론부터 말하는 두괄식 소통</a:t>
            </a:r>
            <a:endParaRPr lang="en-US" sz="900" dirty="0"/>
          </a:p>
        </p:txBody>
      </p:sp>
      <p:sp>
        <p:nvSpPr>
          <p:cNvPr id="62" name="Text 44"/>
          <p:cNvSpPr txBox="1"/>
          <p:nvPr/>
        </p:nvSpPr>
        <p:spPr>
          <a:xfrm>
            <a:off x="9105595" y="3810305"/>
            <a:ext cx="342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1B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63" name="Text 45"/>
          <p:cNvSpPr txBox="1"/>
          <p:nvPr/>
        </p:nvSpPr>
        <p:spPr>
          <a:xfrm>
            <a:off x="9486900" y="3829507"/>
            <a:ext cx="185166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첨부/서명</a:t>
            </a:r>
            <a:endParaRPr lang="en-US" sz="1300" dirty="0"/>
          </a:p>
        </p:txBody>
      </p:sp>
      <p:sp>
        <p:nvSpPr>
          <p:cNvPr id="64" name="Text 46"/>
          <p:cNvSpPr txBox="1"/>
          <p:nvPr/>
        </p:nvSpPr>
        <p:spPr>
          <a:xfrm>
            <a:off x="9144000" y="4286707"/>
            <a:ext cx="22631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파일명 규칙과 서명 첨부</a:t>
            </a:r>
            <a:endParaRPr lang="en-US" sz="1000" dirty="0"/>
          </a:p>
        </p:txBody>
      </p:sp>
      <p:sp>
        <p:nvSpPr>
          <p:cNvPr id="65" name="Text 47"/>
          <p:cNvSpPr txBox="1"/>
          <p:nvPr/>
        </p:nvSpPr>
        <p:spPr>
          <a:xfrm>
            <a:off x="9144000" y="4533595"/>
            <a:ext cx="22631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발송 전 최종 점검의 완성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5" r="-15"/>
          <a:stretch/>
        </p:blipFill>
        <p:spPr>
          <a:xfrm>
            <a:off x="571500" y="1524305"/>
            <a:ext cx="11087100" cy="9902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2762402"/>
            <a:ext cx="4972507" cy="2876702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715000" y="4000500"/>
            <a:ext cx="381305" cy="381305"/>
          </a:xfrm>
          <a:prstGeom prst="ellipse">
            <a:avLst/>
          </a:prstGeom>
          <a:solidFill>
            <a:srgbClr val="FFF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286500" y="2762402"/>
            <a:ext cx="5372100" cy="2895905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  <a:effectLst>
            <a:outerShdw blurRad="1397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" y="5905195"/>
            <a:ext cx="11048695" cy="571500"/>
          </a:xfrm>
          <a:prstGeom prst="roundRect">
            <a:avLst>
              <a:gd name="adj" fmla="val 64000"/>
            </a:avLst>
          </a:prstGeom>
          <a:solidFill>
            <a:srgbClr val="FFF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384" r="-384"/>
          <a:stretch/>
        </p:blipFill>
        <p:spPr>
          <a:xfrm>
            <a:off x="952805" y="1762049"/>
            <a:ext cx="57607" cy="47640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36" r="-36"/>
          <a:stretch/>
        </p:blipFill>
        <p:spPr>
          <a:xfrm>
            <a:off x="571500" y="2762402"/>
            <a:ext cx="4953305" cy="5806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61695" y="3524098"/>
            <a:ext cx="4572000" cy="476402"/>
          </a:xfrm>
          <a:prstGeom prst="roundRect">
            <a:avLst>
              <a:gd name="adj" fmla="val 61420"/>
            </a:avLst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761695" y="4190695"/>
            <a:ext cx="4572000" cy="476402"/>
          </a:xfrm>
          <a:prstGeom prst="roundRect">
            <a:avLst>
              <a:gd name="adj" fmla="val 61420"/>
            </a:avLst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695" y="4858207"/>
            <a:ext cx="4572000" cy="476402"/>
          </a:xfrm>
          <a:prstGeom prst="roundRect">
            <a:avLst>
              <a:gd name="adj" fmla="val 61420"/>
            </a:avLst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6286500" y="2762402"/>
            <a:ext cx="5333695" cy="5715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76695" y="3524098"/>
            <a:ext cx="4972507" cy="495605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6476695" y="4190695"/>
            <a:ext cx="4972507" cy="495605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6476695" y="4858207"/>
            <a:ext cx="4972507" cy="495605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395" y="647395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04595" y="629107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904695" y="571500"/>
            <a:ext cx="6001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작성 원칙</a:t>
            </a:r>
            <a:endParaRPr lang="en-US" sz="2100" dirty="0"/>
          </a:p>
        </p:txBody>
      </p:sp>
      <p:sp>
        <p:nvSpPr>
          <p:cNvPr id="22" name="Text 15"/>
          <p:cNvSpPr txBox="1"/>
          <p:nvPr/>
        </p:nvSpPr>
        <p:spPr>
          <a:xfrm>
            <a:off x="1104595" y="990295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제목은 ‘수식’처럼 구조화하세요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143000" y="1809598"/>
            <a:ext cx="10191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[말머리/부서명]</a:t>
            </a: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</a:t>
            </a:r>
            <a:r>
              <a:rPr lang="en-US" sz="18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내용</a:t>
            </a: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</a:t>
            </a:r>
            <a:r>
              <a:rPr lang="en-US" sz="1800" b="1" dirty="0">
                <a:solidFill>
                  <a:srgbClr val="00BC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_기한 or 요청사항</a:t>
            </a:r>
            <a:endParaRPr lang="en-US" sz="18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1695" y="2933395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95451" y="2933395"/>
            <a:ext cx="1981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(기존 방식)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857707" y="3648456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명함 신청합니다.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857707" y="4315054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어제 회의 자료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857707" y="4981651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품의서 올렸습니다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810098" y="4095598"/>
            <a:ext cx="190195" cy="190195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76695" y="2933395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810451" y="2933395"/>
            <a:ext cx="2179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TO-BE (개선 방식)</a:t>
            </a:r>
            <a:endParaRPr lang="en-US" sz="1200" dirty="0"/>
          </a:p>
        </p:txBody>
      </p:sp>
      <p:sp>
        <p:nvSpPr>
          <p:cNvPr id="32" name="Text 22"/>
          <p:cNvSpPr txBox="1"/>
          <p:nvPr/>
        </p:nvSpPr>
        <p:spPr>
          <a:xfrm>
            <a:off x="6476695" y="3648456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</a:t>
            </a: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r>
              <a:rPr lang="ko-KR" alt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 연말정산 자료 제출 요청의 건</a:t>
            </a:r>
            <a:endParaRPr lang="en-US" sz="1100" dirty="0"/>
          </a:p>
        </p:txBody>
      </p:sp>
      <p:sp>
        <p:nvSpPr>
          <p:cNvPr id="33" name="Text 23"/>
          <p:cNvSpPr txBox="1"/>
          <p:nvPr/>
        </p:nvSpPr>
        <p:spPr>
          <a:xfrm>
            <a:off x="6515100" y="4315054"/>
            <a:ext cx="487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</a:t>
            </a: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A사 미팅 회의록 및 후속 Action Item 공유</a:t>
            </a:r>
            <a:endParaRPr lang="en-US" sz="1100" dirty="0"/>
          </a:p>
        </p:txBody>
      </p:sp>
      <p:sp>
        <p:nvSpPr>
          <p:cNvPr id="34" name="Text 24"/>
          <p:cNvSpPr txBox="1"/>
          <p:nvPr/>
        </p:nvSpPr>
        <p:spPr>
          <a:xfrm>
            <a:off x="6476695" y="4981651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통보</a:t>
            </a: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및 해외 PL보험 갱신 품의 상신 통보의 건</a:t>
            </a:r>
            <a:endParaRPr lang="en-US" sz="11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1695" y="6077102"/>
            <a:ext cx="228600" cy="22860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143000" y="6077102"/>
            <a:ext cx="10452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Gmail 검색 최적화: 괄호 [ ] 말머리는 수많은 메일함 속에서 나중에 필요한 메일을 1초 만에 찾게 해주는 강력한 </a:t>
            </a:r>
            <a:r>
              <a:rPr lang="en-US" sz="12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태그(Tag)</a:t>
            </a: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1524305"/>
            <a:ext cx="10687507" cy="45912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34" r="-34"/>
          <a:stretch/>
        </p:blipFill>
        <p:spPr>
          <a:xfrm>
            <a:off x="761695" y="1524305"/>
            <a:ext cx="10668305" cy="58064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52805" y="3333902"/>
            <a:ext cx="10287000" cy="914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52805" y="4858207"/>
            <a:ext cx="10287000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333195" y="2523744"/>
            <a:ext cx="1333195" cy="381305"/>
          </a:xfrm>
          <a:prstGeom prst="roundRect">
            <a:avLst>
              <a:gd name="adj" fmla="val 95923"/>
            </a:avLst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3"/>
          <p:cNvSpPr/>
          <p:nvPr/>
        </p:nvSpPr>
        <p:spPr>
          <a:xfrm>
            <a:off x="1333195" y="3905402"/>
            <a:ext cx="1333195" cy="381305"/>
          </a:xfrm>
          <a:prstGeom prst="roundRect">
            <a:avLst>
              <a:gd name="adj" fmla="val 9592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1333195" y="5286146"/>
            <a:ext cx="1333195" cy="381305"/>
          </a:xfrm>
          <a:prstGeom prst="roundRect">
            <a:avLst>
              <a:gd name="adj" fmla="val 95923"/>
            </a:avLst>
          </a:prstGeom>
          <a:solidFill>
            <a:srgbClr val="FFF5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7048195" y="4000500"/>
            <a:ext cx="571500" cy="190195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61695" y="5715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 t="-10" b="-10"/>
          <a:stretch/>
        </p:blipFill>
        <p:spPr>
          <a:xfrm>
            <a:off x="7715707" y="3571646"/>
            <a:ext cx="3353105" cy="1067105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/>
          <a:srcRect l="-393" r="-393"/>
          <a:stretch/>
        </p:blipFill>
        <p:spPr>
          <a:xfrm>
            <a:off x="7715707" y="3571646"/>
            <a:ext cx="57607" cy="1047902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8505" y="647395"/>
            <a:ext cx="228600" cy="228600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1295705" y="647395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02</a:t>
            </a:r>
            <a:endParaRPr lang="en-US" sz="1200" dirty="0"/>
          </a:p>
        </p:txBody>
      </p:sp>
      <p:sp>
        <p:nvSpPr>
          <p:cNvPr id="17" name="Text 7"/>
          <p:cNvSpPr txBox="1"/>
          <p:nvPr/>
        </p:nvSpPr>
        <p:spPr>
          <a:xfrm>
            <a:off x="2190902" y="571500"/>
            <a:ext cx="7734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수신(To)과 참조(CC)의 명확한 R&amp;R 매트릭스</a:t>
            </a:r>
            <a:endParaRPr lang="en-US" sz="2100" dirty="0"/>
          </a:p>
        </p:txBody>
      </p:sp>
      <p:sp>
        <p:nvSpPr>
          <p:cNvPr id="18" name="Text 8"/>
          <p:cNvSpPr txBox="1"/>
          <p:nvPr/>
        </p:nvSpPr>
        <p:spPr>
          <a:xfrm>
            <a:off x="1295705" y="990295"/>
            <a:ext cx="5906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수신자 유형별 명확한 역할과 책임을 확인하세요</a:t>
            </a:r>
            <a:endParaRPr lang="en-US" sz="1200" dirty="0"/>
          </a:p>
        </p:txBody>
      </p:sp>
      <p:sp>
        <p:nvSpPr>
          <p:cNvPr id="19" name="Text 9"/>
          <p:cNvSpPr txBox="1"/>
          <p:nvPr/>
        </p:nvSpPr>
        <p:spPr>
          <a:xfrm>
            <a:off x="1067105" y="169529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수신자 유형</a:t>
            </a:r>
            <a:endParaRPr lang="en-US" sz="1200" dirty="0"/>
          </a:p>
        </p:txBody>
      </p:sp>
      <p:sp>
        <p:nvSpPr>
          <p:cNvPr id="20" name="Text 10"/>
          <p:cNvSpPr txBox="1"/>
          <p:nvPr/>
        </p:nvSpPr>
        <p:spPr>
          <a:xfrm>
            <a:off x="3429000" y="1695298"/>
            <a:ext cx="7810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요구되는 행동 / 목적</a:t>
            </a:r>
            <a:endParaRPr lang="en-US" sz="1200" dirty="0"/>
          </a:p>
        </p:txBody>
      </p:sp>
      <p:sp>
        <p:nvSpPr>
          <p:cNvPr id="21" name="Text 11"/>
          <p:cNvSpPr txBox="1"/>
          <p:nvPr/>
        </p:nvSpPr>
        <p:spPr>
          <a:xfrm>
            <a:off x="1295705" y="2581351"/>
            <a:ext cx="1410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3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 (To)</a:t>
            </a:r>
            <a:endParaRPr lang="en-US" sz="1200" dirty="0"/>
          </a:p>
        </p:txBody>
      </p:sp>
      <p:sp>
        <p:nvSpPr>
          <p:cNvPr id="22" name="Text 12"/>
          <p:cNvSpPr txBox="1"/>
          <p:nvPr/>
        </p:nvSpPr>
        <p:spPr>
          <a:xfrm>
            <a:off x="3429000" y="2428646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메일을 읽고 </a:t>
            </a:r>
            <a:r>
              <a:rPr lang="en-US" sz="1300" b="1" dirty="0">
                <a:solidFill>
                  <a:srgbClr val="00BC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답장</a:t>
            </a: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하거나 </a:t>
            </a:r>
            <a:r>
              <a:rPr lang="en-US" sz="1300" b="1" dirty="0">
                <a:solidFill>
                  <a:srgbClr val="00BC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요청된 업무를 수행</a:t>
            </a: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해야 하는 사람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3429000" y="2734056"/>
            <a:ext cx="7543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(Action Item의 주체)</a:t>
            </a:r>
            <a:endParaRPr lang="en-US" sz="1100" dirty="0"/>
          </a:p>
        </p:txBody>
      </p:sp>
      <p:sp>
        <p:nvSpPr>
          <p:cNvPr id="24" name="Text 14"/>
          <p:cNvSpPr txBox="1"/>
          <p:nvPr/>
        </p:nvSpPr>
        <p:spPr>
          <a:xfrm>
            <a:off x="1295705" y="3962095"/>
            <a:ext cx="1410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(CC)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3429000" y="3762756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직접적인 행동은 필요 없으나,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3429000" y="4067251"/>
            <a:ext cx="447324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진행 상황을 </a:t>
            </a:r>
            <a:r>
              <a:rPr lang="en-US" sz="13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인지(Read-only)</a:t>
            </a: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해야 하는 사람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3429000" y="4371746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(주로 직속 팀장/본부장 및 타 부서 협업자)</a:t>
            </a:r>
            <a:endParaRPr lang="en-US" sz="1100" dirty="0"/>
          </a:p>
        </p:txBody>
      </p:sp>
      <p:sp>
        <p:nvSpPr>
          <p:cNvPr id="28" name="Text 18"/>
          <p:cNvSpPr txBox="1"/>
          <p:nvPr/>
        </p:nvSpPr>
        <p:spPr>
          <a:xfrm>
            <a:off x="1295705" y="5343754"/>
            <a:ext cx="1410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숨은참조 (BCC)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3429000" y="52385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다수의 외부 업체나 고객에게 단체 메일을 보낼 때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3429000" y="5544007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노출을 방지</a:t>
            </a: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하기 위해 사용</a:t>
            </a:r>
            <a:endParaRPr lang="en-US" sz="13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953451" y="3743554"/>
            <a:ext cx="228600" cy="2286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8287207" y="3762756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50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흔한 실수 주의!</a:t>
            </a:r>
            <a:endParaRPr lang="en-US" sz="1200" dirty="0"/>
          </a:p>
        </p:txBody>
      </p:sp>
      <p:sp>
        <p:nvSpPr>
          <p:cNvPr id="33" name="Text 22"/>
          <p:cNvSpPr txBox="1"/>
          <p:nvPr/>
        </p:nvSpPr>
        <p:spPr>
          <a:xfrm>
            <a:off x="7953451" y="4095598"/>
            <a:ext cx="31391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수신자에 직속 상사, 참조에 담당자 배치는 금물!</a:t>
            </a:r>
            <a:endParaRPr lang="en-US" sz="900" dirty="0"/>
          </a:p>
        </p:txBody>
      </p:sp>
      <p:sp>
        <p:nvSpPr>
          <p:cNvPr id="34" name="Text 23"/>
          <p:cNvSpPr txBox="1"/>
          <p:nvPr/>
        </p:nvSpPr>
        <p:spPr>
          <a:xfrm>
            <a:off x="7953451" y="4315054"/>
            <a:ext cx="341437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행동해야 하는지 모호해져 책임 소재가 불분명해집니다.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5" b="-5"/>
          <a:stretch/>
        </p:blipFill>
        <p:spPr>
          <a:xfrm>
            <a:off x="571500" y="1524305"/>
            <a:ext cx="11048695" cy="38103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1429207" y="1904695"/>
            <a:ext cx="19202" cy="295259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4286707" y="1904695"/>
            <a:ext cx="19202" cy="295259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5715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"/>
          <p:cNvSpPr/>
          <p:nvPr/>
        </p:nvSpPr>
        <p:spPr>
          <a:xfrm>
            <a:off x="9144000" y="571500"/>
            <a:ext cx="800100" cy="362102"/>
          </a:xfrm>
          <a:prstGeom prst="roundRect">
            <a:avLst>
              <a:gd name="adj" fmla="val 239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10001707" y="571500"/>
            <a:ext cx="1086307" cy="342900"/>
          </a:xfrm>
          <a:prstGeom prst="roundRect">
            <a:avLst>
              <a:gd name="adj" fmla="val 266667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952805" y="1904695"/>
            <a:ext cx="4381805" cy="857707"/>
          </a:xfrm>
          <a:prstGeom prst="roundRect">
            <a:avLst>
              <a:gd name="adj" fmla="val 28429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715000" y="1904695"/>
            <a:ext cx="5524805" cy="857707"/>
          </a:xfrm>
          <a:prstGeom prst="roundRect">
            <a:avLst>
              <a:gd name="adj" fmla="val 28429"/>
            </a:avLst>
          </a:prstGeom>
          <a:solidFill>
            <a:srgbClr val="FFF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1333195" y="2952598"/>
            <a:ext cx="3619195" cy="857707"/>
          </a:xfrm>
          <a:prstGeom prst="roundRect">
            <a:avLst>
              <a:gd name="adj" fmla="val 28429"/>
            </a:avLst>
          </a:prstGeom>
          <a:solidFill>
            <a:srgbClr val="00BC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715000" y="2952598"/>
            <a:ext cx="5524805" cy="857707"/>
          </a:xfrm>
          <a:prstGeom prst="roundRect">
            <a:avLst>
              <a:gd name="adj" fmla="val 28429"/>
            </a:avLst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714500" y="4000500"/>
            <a:ext cx="2857500" cy="857707"/>
          </a:xfrm>
          <a:prstGeom prst="roundRect">
            <a:avLst>
              <a:gd name="adj" fmla="val 28429"/>
            </a:avLst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15000" y="4000500"/>
            <a:ext cx="5524805" cy="857707"/>
          </a:xfrm>
          <a:prstGeom prst="roundRect">
            <a:avLst>
              <a:gd name="adj" fmla="val 28429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5477256" y="2314346"/>
            <a:ext cx="95098" cy="38405"/>
          </a:xfrm>
          <a:prstGeom prst="roundRect">
            <a:avLst>
              <a:gd name="adj" fmla="val 2380940"/>
            </a:avLst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rcRect t="-373" b="-373"/>
          <a:stretch/>
        </p:blipFill>
        <p:spPr>
          <a:xfrm>
            <a:off x="5143500" y="3362249"/>
            <a:ext cx="428854" cy="38405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 t="-424" b="-424"/>
          <a:stretch/>
        </p:blipFill>
        <p:spPr>
          <a:xfrm>
            <a:off x="4762195" y="4410151"/>
            <a:ext cx="809244" cy="38405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71500" y="5619902"/>
            <a:ext cx="11048695" cy="761695"/>
          </a:xfrm>
          <a:prstGeom prst="roundRect">
            <a:avLst>
              <a:gd name="adj" fmla="val 36014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395" y="647395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104595" y="629107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1904695" y="571500"/>
            <a:ext cx="573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작성의 황금률: BLUF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1104595" y="990295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이해받고자 한다면 결론부터 쓰십시오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9105595" y="647395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9957816" y="647395"/>
            <a:ext cx="11731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역피라미드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1016813" y="2143354"/>
            <a:ext cx="42528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결론 (Bottom-Line Up Front)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5905195" y="2095805"/>
            <a:ext cx="5334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중요한 목적과 결론을 첫 1~2줄에 배치합니다.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5905195" y="2328062"/>
            <a:ext cx="5334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바쁜 수신자는 이 부분만 읽고도 의도를 파악해야 합니다.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466698" y="3095244"/>
            <a:ext cx="33531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상세 배경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466698" y="3409798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(Context &amp; Details)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5905195" y="3143707"/>
            <a:ext cx="5334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메일을 보냈는지, 어떤 히스토리가 있는지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905195" y="3375965"/>
            <a:ext cx="5334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불릿 포인트(•)를 활용해 가독성 높게 설명합니다.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1855318" y="4143146"/>
            <a:ext cx="257586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Action Item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1809598" y="4457700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(요청사항 및 기한)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5905195" y="4190695"/>
            <a:ext cx="5257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구체적으로 누가(Who), 언제까지(When), 무엇을(What)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5905195" y="4423867"/>
            <a:ext cx="5334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해주기를 바라는지 명확한 기한을 제시합니다.</a:t>
            </a:r>
            <a:endParaRPr lang="en-US" sz="10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7707" y="5810098"/>
            <a:ext cx="381305" cy="38130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429207" y="5762549"/>
            <a:ext cx="9639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If you write to be understood, start with the conclusion.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1429207" y="6014009"/>
            <a:ext cx="9715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(이해받고자 한다면 결론부터 쓰십시오)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571500" y="1524305"/>
            <a:ext cx="5333695" cy="409559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6286500" y="1524305"/>
            <a:ext cx="5333695" cy="40955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5905195"/>
            <a:ext cx="11048695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571500" y="1524305"/>
            <a:ext cx="5333695" cy="5715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38098" y="2762402"/>
            <a:ext cx="4401007" cy="437998"/>
          </a:xfrm>
          <a:prstGeom prst="roundRect">
            <a:avLst>
              <a:gd name="adj" fmla="val 72615"/>
            </a:avLst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1238098" y="3258007"/>
            <a:ext cx="4401007" cy="437998"/>
          </a:xfrm>
          <a:prstGeom prst="roundRect">
            <a:avLst>
              <a:gd name="adj" fmla="val 7261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286500" y="1524305"/>
            <a:ext cx="5333695" cy="5715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572707" y="2286000"/>
            <a:ext cx="4781398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6572707" y="4286707"/>
            <a:ext cx="4762195" cy="952805"/>
          </a:xfrm>
          <a:prstGeom prst="roundRect">
            <a:avLst>
              <a:gd name="adj" fmla="val 15355"/>
            </a:avLst>
          </a:prstGeom>
          <a:solidFill>
            <a:srgbClr val="FFF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6572707" y="2286000"/>
            <a:ext cx="1343254" cy="1714500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7906817" y="2286000"/>
            <a:ext cx="9144" cy="17145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7905902" y="2286000"/>
            <a:ext cx="3429000" cy="428854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7905902" y="2705710"/>
            <a:ext cx="3429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7905902" y="2704795"/>
            <a:ext cx="3429000" cy="4288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7905902" y="3124505"/>
            <a:ext cx="3429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8020202" y="2400300"/>
            <a:ext cx="666598" cy="190195"/>
          </a:xfrm>
          <a:prstGeom prst="roundRect">
            <a:avLst>
              <a:gd name="adj" fmla="val 192308"/>
            </a:avLst>
          </a:prstGeom>
          <a:solidFill>
            <a:srgbClr val="BAE6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8020202" y="2819095"/>
            <a:ext cx="666598" cy="190195"/>
          </a:xfrm>
          <a:prstGeom prst="roundRect">
            <a:avLst>
              <a:gd name="adj" fmla="val 192308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7395" y="647395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04595" y="629107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904695" y="571500"/>
            <a:ext cx="5906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첨부파일 규칙 및 스마트 팁</a:t>
            </a:r>
            <a:endParaRPr lang="en-US" sz="2100" dirty="0"/>
          </a:p>
        </p:txBody>
      </p:sp>
      <p:sp>
        <p:nvSpPr>
          <p:cNvPr id="25" name="Text 18"/>
          <p:cNvSpPr txBox="1"/>
          <p:nvPr/>
        </p:nvSpPr>
        <p:spPr>
          <a:xfrm>
            <a:off x="1104595" y="990295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파일 공유와 효율적인 메일함 관리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857707" y="1676095"/>
            <a:ext cx="400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첨부파일 체크리스트</a:t>
            </a:r>
            <a:endParaRPr lang="en-US" sz="13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2381098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38098" y="2361895"/>
            <a:ext cx="400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파일명 규칙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1390802" y="2866644"/>
            <a:ext cx="4286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[분류] 문서명_버전_날짜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1390802" y="3362249"/>
            <a:ext cx="4210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[인사] 2024년도_신규입사자명단_v1.2_240517.xlsx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4095598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238098" y="4076395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대용량 파일 (10TB Google Drive)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1238098" y="443849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대용량 파일은 직접 첨부 대신 드라이브 링크 공유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1238098" y="4677156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발송 전 접근 권한 설정 확인 필수!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6572707" y="1676095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Gmail 라벨링 최적화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6715354" y="2428646"/>
            <a:ext cx="1205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 (Labels)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6715354" y="2714854"/>
            <a:ext cx="11320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결재/근태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6858000" y="2952598"/>
            <a:ext cx="9811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근태요청서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6858000" y="3191256"/>
            <a:ext cx="9811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지출결의서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6715354" y="3429000"/>
            <a:ext cx="11320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프로젝트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7981798" y="2419502"/>
            <a:ext cx="743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결재/근태</a:t>
            </a:r>
            <a:endParaRPr lang="en-US" sz="800" dirty="0"/>
          </a:p>
        </p:txBody>
      </p:sp>
      <p:sp>
        <p:nvSpPr>
          <p:cNvPr id="42" name="Text 33"/>
          <p:cNvSpPr txBox="1"/>
          <p:nvPr/>
        </p:nvSpPr>
        <p:spPr>
          <a:xfrm>
            <a:off x="8762695" y="2409444"/>
            <a:ext cx="2572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[전자결재] 연차 휴가 신청 - 홍길동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7981798" y="2838298"/>
            <a:ext cx="743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endParaRPr lang="en-US" sz="800" dirty="0"/>
          </a:p>
        </p:txBody>
      </p:sp>
      <p:sp>
        <p:nvSpPr>
          <p:cNvPr id="44" name="Text 35"/>
          <p:cNvSpPr txBox="1"/>
          <p:nvPr/>
        </p:nvSpPr>
        <p:spPr>
          <a:xfrm>
            <a:off x="8762695" y="2829154"/>
            <a:ext cx="2572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[A프로젝트] 주간 회의록 공유</a:t>
            </a:r>
            <a:endParaRPr lang="en-US" sz="9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62902" y="4429354"/>
            <a:ext cx="228600" cy="22860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7095744" y="4438498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패턴의 메일은 필터와 라벨을 자동화하세요.</a:t>
            </a:r>
            <a:endParaRPr lang="en-US" sz="1100" dirty="0"/>
          </a:p>
        </p:txBody>
      </p:sp>
      <p:sp>
        <p:nvSpPr>
          <p:cNvPr id="47" name="Text 37"/>
          <p:cNvSpPr txBox="1"/>
          <p:nvPr/>
        </p:nvSpPr>
        <p:spPr>
          <a:xfrm>
            <a:off x="7095744" y="4677156"/>
            <a:ext cx="40773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결재, 근태요청 등 반복적인 메일을 라벨로 자동 분류하면 수신함을 깨끗하고 효율적으로 관리할 수 있습니다.</a:t>
            </a:r>
            <a:endParaRPr lang="en-US" sz="10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7707" y="6057900"/>
            <a:ext cx="267005" cy="26700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238098" y="6077102"/>
            <a:ext cx="971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흔한 실수! </a:t>
            </a: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'파일을 첨부했습니다'</a:t>
            </a:r>
            <a:r>
              <a:rPr lang="en-US" sz="12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라고 쓰고 파일을 빼먹지 마세요. 발송 전 클립 아이콘 확인은 필수입니다.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715500" y="571500"/>
            <a:ext cx="780898" cy="342900"/>
          </a:xfrm>
          <a:prstGeom prst="roundRect">
            <a:avLst>
              <a:gd name="adj" fmla="val 266667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573207" y="571500"/>
            <a:ext cx="1123798" cy="381305"/>
          </a:xfrm>
          <a:prstGeom prst="roundRect">
            <a:avLst>
              <a:gd name="adj" fmla="val 2158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571500" y="1714500"/>
            <a:ext cx="4762195" cy="43818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714500"/>
            <a:ext cx="5905195" cy="1238098"/>
          </a:xfrm>
          <a:prstGeom prst="roundRect">
            <a:avLst>
              <a:gd name="adj" fmla="val 181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0" y="3286354"/>
            <a:ext cx="5905195" cy="1238098"/>
          </a:xfrm>
          <a:prstGeom prst="roundRect">
            <a:avLst>
              <a:gd name="adj" fmla="val 181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715000" y="4858207"/>
            <a:ext cx="5905195" cy="1238098"/>
          </a:xfrm>
          <a:prstGeom prst="roundRect">
            <a:avLst>
              <a:gd name="adj" fmla="val 181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571500" y="1714500"/>
            <a:ext cx="4762195" cy="57150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14" b="-14"/>
          <a:stretch/>
        </p:blipFill>
        <p:spPr>
          <a:xfrm>
            <a:off x="5715000" y="1714500"/>
            <a:ext cx="761695" cy="1238098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t="-14" b="-14"/>
          <a:stretch/>
        </p:blipFill>
        <p:spPr>
          <a:xfrm>
            <a:off x="5715000" y="3286354"/>
            <a:ext cx="761695" cy="1238098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t="-14" b="-14"/>
          <a:stretch/>
        </p:blipFill>
        <p:spPr>
          <a:xfrm>
            <a:off x="5715000" y="4858207"/>
            <a:ext cx="761695" cy="123809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395" y="647395"/>
            <a:ext cx="228600" cy="2286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104595" y="629107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17" name="Text 9"/>
          <p:cNvSpPr txBox="1"/>
          <p:nvPr/>
        </p:nvSpPr>
        <p:spPr>
          <a:xfrm>
            <a:off x="1904695" y="571500"/>
            <a:ext cx="5906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비즈니스 명함: 이메일 서명</a:t>
            </a:r>
            <a:endParaRPr lang="en-US" sz="2100" dirty="0"/>
          </a:p>
        </p:txBody>
      </p:sp>
      <p:sp>
        <p:nvSpPr>
          <p:cNvPr id="18" name="Text 10"/>
          <p:cNvSpPr txBox="1"/>
          <p:nvPr/>
        </p:nvSpPr>
        <p:spPr>
          <a:xfrm>
            <a:off x="1104595" y="990295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프로페셔널한 인상을 남기는 디지털 명함 설정 가이드</a:t>
            </a:r>
            <a:endParaRPr lang="en-US" sz="1200" dirty="0"/>
          </a:p>
        </p:txBody>
      </p:sp>
      <p:sp>
        <p:nvSpPr>
          <p:cNvPr id="19" name="Text 11"/>
          <p:cNvSpPr txBox="1"/>
          <p:nvPr/>
        </p:nvSpPr>
        <p:spPr>
          <a:xfrm>
            <a:off x="9677095" y="647395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10528402" y="647395"/>
            <a:ext cx="11932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기본설정</a:t>
            </a:r>
            <a:endParaRPr lang="en-US" sz="1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1695" y="1867205"/>
            <a:ext cx="267005" cy="26700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43000" y="1886407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예시 (Standard Template)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rcRect l="-1" r="-1"/>
          <a:stretch/>
        </p:blipFill>
        <p:spPr>
          <a:xfrm>
            <a:off x="857707" y="2667305"/>
            <a:ext cx="4209898" cy="2495398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5676595" y="2095805"/>
            <a:ext cx="8385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400" dirty="0"/>
          </a:p>
        </p:txBody>
      </p:sp>
      <p:sp>
        <p:nvSpPr>
          <p:cNvPr id="25" name="Text 15"/>
          <p:cNvSpPr txBox="1"/>
          <p:nvPr/>
        </p:nvSpPr>
        <p:spPr>
          <a:xfrm>
            <a:off x="6762902" y="2095805"/>
            <a:ext cx="476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명함의 역할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6762902" y="2419502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서명은 당신의 소속과 연락처를 보증하는 비즈니스의 기본입니다.</a:t>
            </a:r>
            <a:endParaRPr lang="en-US" sz="1100" dirty="0"/>
          </a:p>
        </p:txBody>
      </p:sp>
      <p:sp>
        <p:nvSpPr>
          <p:cNvPr id="27" name="Text 17"/>
          <p:cNvSpPr txBox="1"/>
          <p:nvPr/>
        </p:nvSpPr>
        <p:spPr>
          <a:xfrm>
            <a:off x="5676595" y="3666744"/>
            <a:ext cx="8385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Text 18"/>
          <p:cNvSpPr txBox="1"/>
          <p:nvPr/>
        </p:nvSpPr>
        <p:spPr>
          <a:xfrm>
            <a:off x="6762902" y="3666744"/>
            <a:ext cx="476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경로 안내</a:t>
            </a:r>
            <a:endParaRPr lang="en-US" sz="1300" dirty="0"/>
          </a:p>
        </p:txBody>
      </p:sp>
      <p:sp>
        <p:nvSpPr>
          <p:cNvPr id="29" name="Text 19"/>
          <p:cNvSpPr txBox="1"/>
          <p:nvPr/>
        </p:nvSpPr>
        <p:spPr>
          <a:xfrm>
            <a:off x="6762902" y="3991356"/>
            <a:ext cx="50090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Gmail &gt; 설정 &gt; 기본설정 &gt; '서명' 섹션에서 표준 양식을 등록하세요.</a:t>
            </a:r>
            <a:endParaRPr lang="en-US" sz="1100" dirty="0"/>
          </a:p>
        </p:txBody>
      </p:sp>
      <p:sp>
        <p:nvSpPr>
          <p:cNvPr id="30" name="Text 20"/>
          <p:cNvSpPr txBox="1"/>
          <p:nvPr/>
        </p:nvSpPr>
        <p:spPr>
          <a:xfrm>
            <a:off x="5676595" y="5238598"/>
            <a:ext cx="8385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Text 21"/>
          <p:cNvSpPr txBox="1"/>
          <p:nvPr/>
        </p:nvSpPr>
        <p:spPr>
          <a:xfrm>
            <a:off x="6762902" y="5238598"/>
            <a:ext cx="476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용도별 분리 권장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6762902" y="5562295"/>
            <a:ext cx="49231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메일용(간단)과 외부 업체용(상세) 서명을 구분해 두면 좋습니다.</a:t>
            </a:r>
            <a:endParaRPr lang="en-US" sz="1100" dirty="0"/>
          </a:p>
        </p:txBody>
      </p:sp>
      <p:sp>
        <p:nvSpPr>
          <p:cNvPr id="33" name="Text 23"/>
          <p:cNvSpPr txBox="1"/>
          <p:nvPr/>
        </p:nvSpPr>
        <p:spPr>
          <a:xfrm>
            <a:off x="1238098" y="3047695"/>
            <a:ext cx="226314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kern="0" spc="-75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</a:t>
            </a:r>
            <a:r>
              <a:rPr lang="en-US" altLang="ko-KR" sz="2800" b="1" kern="0" spc="-75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LAB</a:t>
            </a:r>
            <a:endParaRPr lang="en-US" sz="2700" dirty="0"/>
          </a:p>
        </p:txBody>
      </p:sp>
      <p:sp>
        <p:nvSpPr>
          <p:cNvPr id="34" name="Text 24"/>
          <p:cNvSpPr txBox="1"/>
          <p:nvPr/>
        </p:nvSpPr>
        <p:spPr>
          <a:xfrm>
            <a:off x="1238098" y="3543300"/>
            <a:ext cx="2179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-75" dirty="0">
                <a:solidFill>
                  <a:srgbClr val="FF854D"/>
                </a:solidFill>
                <a:latin typeface="Noto Sans KR" pitchFamily="34" charset="0"/>
                <a:ea typeface="Noto Sans KR" pitchFamily="34" charset="-122"/>
              </a:rPr>
              <a:t>convergence</a:t>
            </a:r>
            <a:endParaRPr lang="en-US" sz="1400" dirty="0">
              <a:solidFill>
                <a:srgbClr val="FF854D"/>
              </a:solidFill>
            </a:endParaRPr>
          </a:p>
        </p:txBody>
      </p:sp>
      <p:sp>
        <p:nvSpPr>
          <p:cNvPr id="35" name="Text 25"/>
          <p:cNvSpPr txBox="1"/>
          <p:nvPr/>
        </p:nvSpPr>
        <p:spPr>
          <a:xfrm>
            <a:off x="1238098" y="3905402"/>
            <a:ext cx="35433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홍길동 </a:t>
            </a: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매니저 (Manager) | 인사총무팀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1238098" y="4267505"/>
            <a:ext cx="3543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</a:t>
            </a: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010-XXXX-XXXX | </a:t>
            </a: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T.</a:t>
            </a: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02-XXXX-XXXX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1238098" y="4486046"/>
            <a:ext cx="3543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E.</a:t>
            </a: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gdhong@neolab.net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1238098" y="4705502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구로구 디지털로 30길 28, 마리오타워 15층</a:t>
            </a:r>
            <a:endParaRPr lang="en-US" sz="9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rcRect t="-20" b="-20"/>
          <a:stretch/>
        </p:blipFill>
        <p:spPr>
          <a:xfrm>
            <a:off x="4858207" y="2476195"/>
            <a:ext cx="761695" cy="5715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 rot="21300000">
            <a:off x="4819802" y="3010205"/>
            <a:ext cx="1028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35"/>
                </a:solidFill>
                <a:latin typeface="Nanum Pen Script" pitchFamily="34" charset="0"/>
                <a:ea typeface="Nanum Pen Script" pitchFamily="34" charset="-122"/>
                <a:cs typeface="Nanum Pen Script" pitchFamily="34" charset="-120"/>
              </a:rPr>
              <a:t>입사 즉시</a:t>
            </a:r>
            <a:endParaRPr lang="en-US" sz="1600" dirty="0"/>
          </a:p>
        </p:txBody>
      </p:sp>
      <p:sp>
        <p:nvSpPr>
          <p:cNvPr id="41" name="Text 30"/>
          <p:cNvSpPr txBox="1"/>
          <p:nvPr/>
        </p:nvSpPr>
        <p:spPr>
          <a:xfrm rot="21300000">
            <a:off x="4785055" y="3323844"/>
            <a:ext cx="109728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35"/>
                </a:solidFill>
                <a:latin typeface="Nanum Pen Script" pitchFamily="34" charset="0"/>
                <a:ea typeface="Nanum Pen Script" pitchFamily="34" charset="-122"/>
                <a:cs typeface="Nanum Pen Script" pitchFamily="34" charset="-120"/>
              </a:rPr>
              <a:t>설정 필수!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524305"/>
            <a:ext cx="4953305" cy="49533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7805" y="1524305"/>
            <a:ext cx="4990795" cy="49907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571500" y="1524305"/>
            <a:ext cx="4953305" cy="5715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857707" y="2762402"/>
            <a:ext cx="4381805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857707" y="3333902"/>
            <a:ext cx="4381805" cy="91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857707" y="5048402"/>
            <a:ext cx="4381805" cy="9144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/>
          <a:srcRect l="-3" r="-3"/>
          <a:stretch/>
        </p:blipFill>
        <p:spPr>
          <a:xfrm>
            <a:off x="6667805" y="1524305"/>
            <a:ext cx="4953305" cy="57150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6953098" y="2762402"/>
            <a:ext cx="4381805" cy="9144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6953098" y="3333902"/>
            <a:ext cx="4381805" cy="9144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7381951" y="3829507"/>
            <a:ext cx="3619195" cy="228600"/>
          </a:xfrm>
          <a:prstGeom prst="roundRect">
            <a:avLst>
              <a:gd name="adj" fmla="val 133333"/>
            </a:avLst>
          </a:prstGeom>
          <a:solidFill>
            <a:srgbClr val="FFF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6953098" y="5524805"/>
            <a:ext cx="4381805" cy="9144"/>
          </a:xfrm>
          <a:prstGeom prst="rect">
            <a:avLst/>
          </a:prstGeom>
        </p:spPr>
      </p:pic>
      <p:sp>
        <p:nvSpPr>
          <p:cNvPr id="16" name="Shape 4"/>
          <p:cNvSpPr/>
          <p:nvPr/>
        </p:nvSpPr>
        <p:spPr>
          <a:xfrm>
            <a:off x="7429500" y="5667451"/>
            <a:ext cx="3638398" cy="647395"/>
          </a:xfrm>
          <a:prstGeom prst="roundRect">
            <a:avLst>
              <a:gd name="adj" fmla="val 24925"/>
            </a:avLst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395" y="647395"/>
            <a:ext cx="228600" cy="228600"/>
          </a:xfrm>
          <a:prstGeom prst="rect">
            <a:avLst/>
          </a:prstGeom>
        </p:spPr>
      </p:pic>
      <p:sp>
        <p:nvSpPr>
          <p:cNvPr id="18" name="Text 5"/>
          <p:cNvSpPr txBox="1"/>
          <p:nvPr/>
        </p:nvSpPr>
        <p:spPr>
          <a:xfrm>
            <a:off x="1104595" y="629107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19" name="Text 6"/>
          <p:cNvSpPr txBox="1"/>
          <p:nvPr/>
        </p:nvSpPr>
        <p:spPr>
          <a:xfrm>
            <a:off x="1904695" y="571500"/>
            <a:ext cx="621243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100" b="1" kern="0" spc="-37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</a:t>
            </a:r>
            <a:r>
              <a:rPr lang="en-US" sz="2100" b="1" kern="0" spc="-3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교정 전/후 비교</a:t>
            </a:r>
            <a:endParaRPr lang="en-US" sz="2100" dirty="0"/>
          </a:p>
        </p:txBody>
      </p:sp>
      <p:sp>
        <p:nvSpPr>
          <p:cNvPr id="20" name="Text 7"/>
          <p:cNvSpPr txBox="1"/>
          <p:nvPr/>
        </p:nvSpPr>
        <p:spPr>
          <a:xfrm>
            <a:off x="1104595" y="990295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사례로 보는 비즈니스 메일의 차이</a:t>
            </a:r>
            <a:endParaRPr lang="en-US" sz="1200" dirty="0"/>
          </a:p>
        </p:txBody>
      </p:sp>
      <p:sp>
        <p:nvSpPr>
          <p:cNvPr id="21" name="Text 8"/>
          <p:cNvSpPr txBox="1"/>
          <p:nvPr/>
        </p:nvSpPr>
        <p:spPr>
          <a:xfrm>
            <a:off x="857707" y="1676095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신입의 실수 (Before)</a:t>
            </a:r>
            <a:endParaRPr lang="en-US" sz="13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48402" y="1695298"/>
            <a:ext cx="228600" cy="228600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857707" y="2381098"/>
            <a:ext cx="743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</a:t>
            </a:r>
            <a:endParaRPr lang="en-US" sz="1100" dirty="0"/>
          </a:p>
        </p:txBody>
      </p:sp>
      <p:sp>
        <p:nvSpPr>
          <p:cNvPr id="24" name="Text 10"/>
          <p:cNvSpPr txBox="1"/>
          <p:nvPr/>
        </p:nvSpPr>
        <p:spPr>
          <a:xfrm>
            <a:off x="1524305" y="2381098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보냅니다.</a:t>
            </a:r>
            <a:endParaRPr lang="en-US" sz="1100" dirty="0"/>
          </a:p>
        </p:txBody>
      </p:sp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476195" y="2361895"/>
            <a:ext cx="190195" cy="190195"/>
          </a:xfrm>
          <a:prstGeom prst="rect">
            <a:avLst/>
          </a:prstGeom>
        </p:spPr>
      </p:pic>
      <p:sp>
        <p:nvSpPr>
          <p:cNvPr id="26" name="Text 11"/>
          <p:cNvSpPr txBox="1"/>
          <p:nvPr/>
        </p:nvSpPr>
        <p:spPr>
          <a:xfrm>
            <a:off x="857707" y="2952598"/>
            <a:ext cx="743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수신/참조</a:t>
            </a:r>
            <a:endParaRPr lang="en-US" sz="1100" dirty="0"/>
          </a:p>
        </p:txBody>
      </p:sp>
      <p:sp>
        <p:nvSpPr>
          <p:cNvPr id="27" name="Text 12"/>
          <p:cNvSpPr txBox="1"/>
          <p:nvPr/>
        </p:nvSpPr>
        <p:spPr>
          <a:xfrm>
            <a:off x="1524305" y="2952598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타부서 담당자, 직속 팀장</a:t>
            </a:r>
            <a:endParaRPr lang="en-US" sz="1100" dirty="0"/>
          </a:p>
        </p:txBody>
      </p:sp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238805" y="2933395"/>
            <a:ext cx="190195" cy="190195"/>
          </a:xfrm>
          <a:prstGeom prst="rect">
            <a:avLst/>
          </a:prstGeom>
        </p:spPr>
      </p:pic>
      <p:sp>
        <p:nvSpPr>
          <p:cNvPr id="29" name="Text 13"/>
          <p:cNvSpPr txBox="1"/>
          <p:nvPr/>
        </p:nvSpPr>
        <p:spPr>
          <a:xfrm>
            <a:off x="857707" y="3524098"/>
            <a:ext cx="743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</a:t>
            </a:r>
            <a:endParaRPr lang="en-US" sz="1100" dirty="0"/>
          </a:p>
        </p:txBody>
      </p:sp>
      <p:sp>
        <p:nvSpPr>
          <p:cNvPr id="30" name="Text 14"/>
          <p:cNvSpPr txBox="1"/>
          <p:nvPr/>
        </p:nvSpPr>
        <p:spPr>
          <a:xfrm>
            <a:off x="1524305" y="3524098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안녕하세요.</a:t>
            </a:r>
            <a:endParaRPr lang="en-US" sz="1100" dirty="0"/>
          </a:p>
        </p:txBody>
      </p:sp>
      <p:sp>
        <p:nvSpPr>
          <p:cNvPr id="31" name="Text 15"/>
          <p:cNvSpPr txBox="1"/>
          <p:nvPr/>
        </p:nvSpPr>
        <p:spPr>
          <a:xfrm>
            <a:off x="1524305" y="3877056"/>
            <a:ext cx="36960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어제 말씀하신 회의 자료 정리해서 보냅니다.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부탁드립니다.</a:t>
            </a:r>
            <a:endParaRPr lang="en-US" sz="1100" dirty="0"/>
          </a:p>
        </p:txBody>
      </p:sp>
      <p:sp>
        <p:nvSpPr>
          <p:cNvPr id="32" name="Text 16"/>
          <p:cNvSpPr txBox="1"/>
          <p:nvPr/>
        </p:nvSpPr>
        <p:spPr>
          <a:xfrm>
            <a:off x="1524305" y="4429354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수고하세요.</a:t>
            </a:r>
            <a:endParaRPr lang="en-US" sz="1100" dirty="0"/>
          </a:p>
        </p:txBody>
      </p:sp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286707" y="3905402"/>
            <a:ext cx="342900" cy="342900"/>
          </a:xfrm>
          <a:prstGeom prst="rect">
            <a:avLst/>
          </a:prstGeom>
        </p:spPr>
      </p:pic>
      <p:sp>
        <p:nvSpPr>
          <p:cNvPr id="34" name="Text 17"/>
          <p:cNvSpPr txBox="1"/>
          <p:nvPr/>
        </p:nvSpPr>
        <p:spPr>
          <a:xfrm>
            <a:off x="857707" y="5238598"/>
            <a:ext cx="743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</a:t>
            </a:r>
            <a:endParaRPr lang="en-US" sz="1100" dirty="0"/>
          </a:p>
        </p:txBody>
      </p:sp>
      <p:sp>
        <p:nvSpPr>
          <p:cNvPr id="35" name="Text 18"/>
          <p:cNvSpPr txBox="1"/>
          <p:nvPr/>
        </p:nvSpPr>
        <p:spPr>
          <a:xfrm>
            <a:off x="1524305" y="5238598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회의자료최종진짜최종.pptx</a:t>
            </a:r>
            <a:endParaRPr lang="en-US" sz="1100" dirty="0"/>
          </a:p>
        </p:txBody>
      </p:sp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429000" y="5219395"/>
            <a:ext cx="190195" cy="190195"/>
          </a:xfrm>
          <a:prstGeom prst="rect">
            <a:avLst/>
          </a:prstGeom>
        </p:spPr>
      </p:pic>
      <p:pic>
        <p:nvPicPr>
          <p:cNvPr id="37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810098" y="3619195"/>
            <a:ext cx="571500" cy="571500"/>
          </a:xfrm>
          <a:prstGeom prst="rect">
            <a:avLst/>
          </a:prstGeom>
        </p:spPr>
      </p:pic>
      <p:sp>
        <p:nvSpPr>
          <p:cNvPr id="38" name="Text 19"/>
          <p:cNvSpPr txBox="1"/>
          <p:nvPr/>
        </p:nvSpPr>
        <p:spPr>
          <a:xfrm>
            <a:off x="6953098" y="1676095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네오랩 스탠다드 (After)</a:t>
            </a:r>
            <a:endParaRPr lang="en-US" sz="1300" dirty="0"/>
          </a:p>
        </p:txBody>
      </p:sp>
      <p:pic>
        <p:nvPicPr>
          <p:cNvPr id="39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144707" y="1695298"/>
            <a:ext cx="228600" cy="228600"/>
          </a:xfrm>
          <a:prstGeom prst="rect">
            <a:avLst/>
          </a:prstGeom>
        </p:spPr>
      </p:pic>
      <p:sp>
        <p:nvSpPr>
          <p:cNvPr id="40" name="Text 20"/>
          <p:cNvSpPr txBox="1"/>
          <p:nvPr/>
        </p:nvSpPr>
        <p:spPr>
          <a:xfrm>
            <a:off x="6953098" y="2381098"/>
            <a:ext cx="743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</a:t>
            </a:r>
            <a:endParaRPr lang="en-US" sz="1100" dirty="0"/>
          </a:p>
        </p:txBody>
      </p:sp>
      <p:sp>
        <p:nvSpPr>
          <p:cNvPr id="41" name="Text 21"/>
          <p:cNvSpPr txBox="1"/>
          <p:nvPr/>
        </p:nvSpPr>
        <p:spPr>
          <a:xfrm>
            <a:off x="7429500" y="2381098"/>
            <a:ext cx="42958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sz="1100" b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</a:t>
            </a:r>
            <a:r>
              <a:rPr lang="en-US" sz="1100" b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 </a:t>
            </a: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영업회의 결과 보고 및 Action Item 공유</a:t>
            </a:r>
            <a:endParaRPr lang="en-US" sz="1100" dirty="0"/>
          </a:p>
        </p:txBody>
      </p:sp>
      <p:pic>
        <p:nvPicPr>
          <p:cNvPr id="42" name="Image 18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1239805" y="2361895"/>
            <a:ext cx="190195" cy="190195"/>
          </a:xfrm>
          <a:prstGeom prst="rect">
            <a:avLst/>
          </a:prstGeom>
        </p:spPr>
      </p:pic>
      <p:sp>
        <p:nvSpPr>
          <p:cNvPr id="43" name="Text 22"/>
          <p:cNvSpPr txBox="1"/>
          <p:nvPr/>
        </p:nvSpPr>
        <p:spPr>
          <a:xfrm>
            <a:off x="6953098" y="2952598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</a:t>
            </a:r>
            <a:endParaRPr lang="en-US" sz="1000" dirty="0"/>
          </a:p>
        </p:txBody>
      </p:sp>
      <p:sp>
        <p:nvSpPr>
          <p:cNvPr id="44" name="Text 23"/>
          <p:cNvSpPr txBox="1"/>
          <p:nvPr/>
        </p:nvSpPr>
        <p:spPr>
          <a:xfrm>
            <a:off x="7429500" y="2952598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타부서 담당자</a:t>
            </a:r>
            <a:endParaRPr lang="en-US" sz="1000" dirty="0"/>
          </a:p>
        </p:txBody>
      </p:sp>
      <p:sp>
        <p:nvSpPr>
          <p:cNvPr id="45" name="Text 24"/>
          <p:cNvSpPr txBox="1"/>
          <p:nvPr/>
        </p:nvSpPr>
        <p:spPr>
          <a:xfrm>
            <a:off x="8858707" y="2952598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</a:t>
            </a:r>
            <a:endParaRPr lang="en-US" sz="1000" dirty="0"/>
          </a:p>
        </p:txBody>
      </p:sp>
      <p:sp>
        <p:nvSpPr>
          <p:cNvPr id="46" name="Text 25"/>
          <p:cNvSpPr txBox="1"/>
          <p:nvPr/>
        </p:nvSpPr>
        <p:spPr>
          <a:xfrm>
            <a:off x="9334195" y="2952598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직속 팀장</a:t>
            </a:r>
            <a:endParaRPr lang="en-US" sz="1000" dirty="0"/>
          </a:p>
        </p:txBody>
      </p:sp>
      <p:pic>
        <p:nvPicPr>
          <p:cNvPr id="47" name="Image 19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096805" y="2933395"/>
            <a:ext cx="190195" cy="190195"/>
          </a:xfrm>
          <a:prstGeom prst="rect">
            <a:avLst/>
          </a:prstGeom>
        </p:spPr>
      </p:pic>
      <p:sp>
        <p:nvSpPr>
          <p:cNvPr id="48" name="Text 26"/>
          <p:cNvSpPr txBox="1"/>
          <p:nvPr/>
        </p:nvSpPr>
        <p:spPr>
          <a:xfrm>
            <a:off x="6953098" y="3524098"/>
            <a:ext cx="553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</a:t>
            </a:r>
            <a:endParaRPr lang="en-US" sz="1100" dirty="0"/>
          </a:p>
        </p:txBody>
      </p:sp>
      <p:sp>
        <p:nvSpPr>
          <p:cNvPr id="49" name="Text 27"/>
          <p:cNvSpPr txBox="1"/>
          <p:nvPr/>
        </p:nvSpPr>
        <p:spPr>
          <a:xfrm>
            <a:off x="7429500" y="352409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안녕하세요.</a:t>
            </a:r>
            <a:endParaRPr lang="en-US" sz="1000" dirty="0"/>
          </a:p>
        </p:txBody>
      </p:sp>
      <p:sp>
        <p:nvSpPr>
          <p:cNvPr id="50" name="Text 28"/>
          <p:cNvSpPr txBox="1"/>
          <p:nvPr/>
        </p:nvSpPr>
        <p:spPr>
          <a:xfrm>
            <a:off x="7429500" y="3810305"/>
            <a:ext cx="42446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(결론) 10/10 주간 영업회의 결과 및 요청사항을 공유해 드립니다.</a:t>
            </a:r>
            <a:endParaRPr lang="en-US" sz="900" dirty="0"/>
          </a:p>
        </p:txBody>
      </p:sp>
      <p:sp>
        <p:nvSpPr>
          <p:cNvPr id="51" name="Text 29"/>
          <p:cNvSpPr txBox="1"/>
          <p:nvPr/>
        </p:nvSpPr>
        <p:spPr>
          <a:xfrm>
            <a:off x="7429500" y="4086454"/>
            <a:ext cx="3734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(배경)</a:t>
            </a:r>
            <a:endParaRPr lang="en-US" sz="900" dirty="0"/>
          </a:p>
        </p:txBody>
      </p:sp>
      <p:sp>
        <p:nvSpPr>
          <p:cNvPr id="52" name="Text 30"/>
          <p:cNvSpPr txBox="1"/>
          <p:nvPr/>
        </p:nvSpPr>
        <p:spPr>
          <a:xfrm>
            <a:off x="7582205" y="4304995"/>
            <a:ext cx="3657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논의 안건: A사 스마트펜 납품 건</a:t>
            </a:r>
            <a:endParaRPr lang="en-US" sz="900" dirty="0"/>
          </a:p>
        </p:txBody>
      </p:sp>
      <p:sp>
        <p:nvSpPr>
          <p:cNvPr id="53" name="Text 31"/>
          <p:cNvSpPr txBox="1"/>
          <p:nvPr/>
        </p:nvSpPr>
        <p:spPr>
          <a:xfrm>
            <a:off x="7429500" y="4543654"/>
            <a:ext cx="3734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(Action)</a:t>
            </a:r>
            <a:endParaRPr lang="en-US" sz="900" dirty="0"/>
          </a:p>
        </p:txBody>
      </p:sp>
      <p:sp>
        <p:nvSpPr>
          <p:cNvPr id="54" name="Text 32"/>
          <p:cNvSpPr txBox="1"/>
          <p:nvPr/>
        </p:nvSpPr>
        <p:spPr>
          <a:xfrm>
            <a:off x="7582205" y="4762195"/>
            <a:ext cx="3657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마케팅팀 요청: 10/15(화)까지 프로모션 기획안 피드백 요망</a:t>
            </a:r>
            <a:endParaRPr lang="en-US" sz="900" dirty="0"/>
          </a:p>
        </p:txBody>
      </p:sp>
      <p:sp>
        <p:nvSpPr>
          <p:cNvPr id="55" name="Text 33"/>
          <p:cNvSpPr txBox="1"/>
          <p:nvPr/>
        </p:nvSpPr>
        <p:spPr>
          <a:xfrm>
            <a:off x="7429500" y="502005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첨부된 회의록 확인 부탁드립니다.</a:t>
            </a:r>
            <a:endParaRPr lang="en-US" sz="1000" dirty="0"/>
          </a:p>
        </p:txBody>
      </p:sp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1144707" y="4095598"/>
            <a:ext cx="342900" cy="342900"/>
          </a:xfrm>
          <a:prstGeom prst="rect">
            <a:avLst/>
          </a:prstGeom>
        </p:spPr>
      </p:pic>
      <p:sp>
        <p:nvSpPr>
          <p:cNvPr id="57" name="Text 34"/>
          <p:cNvSpPr txBox="1"/>
          <p:nvPr/>
        </p:nvSpPr>
        <p:spPr>
          <a:xfrm>
            <a:off x="6953098" y="5762549"/>
            <a:ext cx="553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</a:t>
            </a:r>
            <a:endParaRPr lang="en-US" sz="1100" dirty="0"/>
          </a:p>
        </p:txBody>
      </p:sp>
      <p:sp>
        <p:nvSpPr>
          <p:cNvPr id="58" name="Text 35"/>
          <p:cNvSpPr txBox="1"/>
          <p:nvPr/>
        </p:nvSpPr>
        <p:spPr>
          <a:xfrm>
            <a:off x="7543800" y="5743346"/>
            <a:ext cx="35250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홍길동 매니저 </a:t>
            </a: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인사총무팀</a:t>
            </a:r>
            <a:endParaRPr lang="en-US" sz="900" dirty="0"/>
          </a:p>
        </p:txBody>
      </p:sp>
      <p:sp>
        <p:nvSpPr>
          <p:cNvPr id="59" name="Text 36"/>
          <p:cNvSpPr txBox="1"/>
          <p:nvPr/>
        </p:nvSpPr>
        <p:spPr>
          <a:xfrm>
            <a:off x="7543800" y="5962802"/>
            <a:ext cx="3448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 010-XXXX-XXXX | E. gdhong@neolab.net</a:t>
            </a:r>
            <a:endParaRPr lang="en-US" sz="800" dirty="0"/>
          </a:p>
        </p:txBody>
      </p:sp>
      <p:sp>
        <p:nvSpPr>
          <p:cNvPr id="60" name="Text 37"/>
          <p:cNvSpPr txBox="1"/>
          <p:nvPr/>
        </p:nvSpPr>
        <p:spPr>
          <a:xfrm>
            <a:off x="7543800" y="6133795"/>
            <a:ext cx="3525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구로구 디지털로 30길 28, 마리오타워 15층</a:t>
            </a:r>
            <a:endParaRPr lang="en-US" sz="800" dirty="0"/>
          </a:p>
        </p:txBody>
      </p:sp>
      <p:pic>
        <p:nvPicPr>
          <p:cNvPr id="61" name="Image 2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1239805" y="5857646"/>
            <a:ext cx="190195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" y="1524305"/>
            <a:ext cx="11067898" cy="838505"/>
          </a:xfrm>
          <a:prstGeom prst="roundRect">
            <a:avLst>
              <a:gd name="adj" fmla="val 396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2495398"/>
            <a:ext cx="11067898" cy="838505"/>
          </a:xfrm>
          <a:prstGeom prst="roundRect">
            <a:avLst>
              <a:gd name="adj" fmla="val 396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3467405"/>
            <a:ext cx="11067898" cy="838505"/>
          </a:xfrm>
          <a:prstGeom prst="roundRect">
            <a:avLst>
              <a:gd name="adj" fmla="val 396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1500" y="4438498"/>
            <a:ext cx="11067898" cy="838505"/>
          </a:xfrm>
          <a:prstGeom prst="roundRect">
            <a:avLst>
              <a:gd name="adj" fmla="val 396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71500" y="5619902"/>
            <a:ext cx="11067898" cy="685800"/>
          </a:xfrm>
          <a:prstGeom prst="roundRect">
            <a:avLst>
              <a:gd name="adj" fmla="val 59259"/>
            </a:avLst>
          </a:prstGeom>
          <a:solidFill>
            <a:srgbClr val="FFF0EB"/>
          </a:solidFill>
          <a:ln w="12700">
            <a:solidFill>
              <a:srgbClr val="FFD8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61695" y="1647749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FFF0EB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2094" b="-2094"/>
          <a:stretch/>
        </p:blipFill>
        <p:spPr>
          <a:xfrm>
            <a:off x="1524305" y="1524305"/>
            <a:ext cx="9144" cy="81930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1695" y="2619756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FFF0EB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 t="-2094" b="-2094"/>
          <a:stretch/>
        </p:blipFill>
        <p:spPr>
          <a:xfrm>
            <a:off x="1524305" y="2495398"/>
            <a:ext cx="9144" cy="8193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61695" y="3590849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FFF0EB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t="-2094" b="-2094"/>
          <a:stretch/>
        </p:blipFill>
        <p:spPr>
          <a:xfrm>
            <a:off x="1524305" y="3467405"/>
            <a:ext cx="9144" cy="81930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61695" y="4562856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FFF0EB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rcRect t="-2094" b="-2094"/>
          <a:stretch/>
        </p:blipFill>
        <p:spPr>
          <a:xfrm>
            <a:off x="1524305" y="4438498"/>
            <a:ext cx="9144" cy="819302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395" y="647395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04595" y="629107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7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904695" y="571500"/>
            <a:ext cx="67821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Flight Check: 발송 버튼을 누르기 전 3초</a:t>
            </a:r>
            <a:endParaRPr lang="en-US" sz="2100" dirty="0"/>
          </a:p>
        </p:txBody>
      </p:sp>
      <p:sp>
        <p:nvSpPr>
          <p:cNvPr id="21" name="Text 14"/>
          <p:cNvSpPr txBox="1"/>
          <p:nvPr/>
        </p:nvSpPr>
        <p:spPr>
          <a:xfrm>
            <a:off x="1104595" y="990295"/>
            <a:ext cx="5586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발송된 메일은 되돌릴 수 없습니다. 완벽한 마무리를 위한 체크리스트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" y="1695298"/>
            <a:ext cx="476402" cy="4764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809598" y="1657807"/>
            <a:ext cx="9639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Recipient Check</a:t>
            </a: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수신자와 참조자(특히 동명이인)를 정확히 지정했는가?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1809598" y="1943100"/>
            <a:ext cx="9715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메일 발송 시 숨은참조(BCC) 설정이 누락되지 않았는지 확인하세요.</a:t>
            </a:r>
            <a:endParaRPr lang="en-US" sz="11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" y="2667305"/>
            <a:ext cx="476402" cy="47640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809598" y="2628900"/>
            <a:ext cx="9639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Subject Check</a:t>
            </a: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제목만 보고도 메일의 목적과 기한을 명확히 알 수 있는가?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1809598" y="2915107"/>
            <a:ext cx="9715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[말머리]와 핵심 요약 내용, 필요시 마감 기한이 포함되어 있는지 점검하세요.</a:t>
            </a:r>
            <a:endParaRPr lang="en-US" sz="11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" y="3638398"/>
            <a:ext cx="476402" cy="47640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809598" y="3600907"/>
            <a:ext cx="9639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Attachment Check</a:t>
            </a: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 '첨부'라는 단어를 썼다면, 실제로 파일이 첨부되어 있는가?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1809598" y="3886200"/>
            <a:ext cx="9715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업로드된 파일명이 사내 규정(분류_문서명_버전_날짜)에 맞게 작성되었는지 확인하세요.</a:t>
            </a:r>
            <a:endParaRPr lang="en-US" sz="11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" y="4610405"/>
            <a:ext cx="476402" cy="47640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809598" y="4572000"/>
            <a:ext cx="9639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Tone &amp; Typo Check</a:t>
            </a: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감정적인 어투가 섞이지 않았는가? 오탈자나 맞춤법 오류는 없는가?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1809598" y="4858207"/>
            <a:ext cx="9715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 내어 한 번 읽어보며 전체적인 맥락과 예의를 점검하는 것이 좋습니다.</a:t>
            </a:r>
            <a:endParaRPr lang="en-US" sz="11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2805" y="5838444"/>
            <a:ext cx="228600" cy="22860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333195" y="5820156"/>
            <a:ext cx="10096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50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발송된 메일은 주워 담을 수 없습니다. 전송(Send) 버튼은 가장 마지막에, 가장 신중하게 누르세요.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0" y="571500"/>
            <a:ext cx="800100" cy="362102"/>
          </a:xfrm>
          <a:prstGeom prst="roundRect">
            <a:avLst>
              <a:gd name="adj" fmla="val 239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001707" y="571500"/>
            <a:ext cx="780898" cy="342900"/>
          </a:xfrm>
          <a:prstGeom prst="roundRect">
            <a:avLst>
              <a:gd name="adj" fmla="val 266667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858500" y="571500"/>
            <a:ext cx="800100" cy="362102"/>
          </a:xfrm>
          <a:prstGeom prst="roundRect">
            <a:avLst>
              <a:gd name="adj" fmla="val 2392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524305"/>
            <a:ext cx="5333695" cy="4762195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6286500" y="1524305"/>
            <a:ext cx="5333695" cy="2238451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6286500" y="4048049"/>
            <a:ext cx="5333695" cy="223845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571500" y="1524305"/>
            <a:ext cx="5333695" cy="5715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61695" y="2286000"/>
            <a:ext cx="4972507" cy="476402"/>
          </a:xfrm>
          <a:prstGeom prst="roundRect">
            <a:avLst>
              <a:gd name="adj" fmla="val 614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761695" y="2857500"/>
            <a:ext cx="4972507" cy="476402"/>
          </a:xfrm>
          <a:prstGeom prst="roundRect">
            <a:avLst>
              <a:gd name="adj" fmla="val 614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761695" y="3429000"/>
            <a:ext cx="4972507" cy="476402"/>
          </a:xfrm>
          <a:prstGeom prst="roundRect">
            <a:avLst>
              <a:gd name="adj" fmla="val 614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761695" y="4000500"/>
            <a:ext cx="4972507" cy="476402"/>
          </a:xfrm>
          <a:prstGeom prst="roundRect">
            <a:avLst>
              <a:gd name="adj" fmla="val 614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761695" y="4572000"/>
            <a:ext cx="4972507" cy="476402"/>
          </a:xfrm>
          <a:prstGeom prst="roundRect">
            <a:avLst>
              <a:gd name="adj" fmla="val 614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761695" y="5143500"/>
            <a:ext cx="4972507" cy="476402"/>
          </a:xfrm>
          <a:prstGeom prst="roundRect">
            <a:avLst>
              <a:gd name="adj" fmla="val 614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 l="-21" r="-21"/>
          <a:stretch/>
        </p:blipFill>
        <p:spPr>
          <a:xfrm>
            <a:off x="6286500" y="1524305"/>
            <a:ext cx="5333695" cy="485546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 l="-21" r="-21"/>
          <a:stretch/>
        </p:blipFill>
        <p:spPr>
          <a:xfrm>
            <a:off x="6286500" y="4048049"/>
            <a:ext cx="5333695" cy="485546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rcRect t="-33" b="-33"/>
          <a:stretch/>
        </p:blipFill>
        <p:spPr>
          <a:xfrm>
            <a:off x="761695" y="2286000"/>
            <a:ext cx="580644" cy="457200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9"/>
          <a:srcRect t="-33" b="-33"/>
          <a:stretch/>
        </p:blipFill>
        <p:spPr>
          <a:xfrm>
            <a:off x="761695" y="2857500"/>
            <a:ext cx="580644" cy="457200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0"/>
          <a:srcRect t="-33" b="-33"/>
          <a:stretch/>
        </p:blipFill>
        <p:spPr>
          <a:xfrm>
            <a:off x="761695" y="3429000"/>
            <a:ext cx="580644" cy="457200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1"/>
          <a:srcRect t="-33" b="-33"/>
          <a:stretch/>
        </p:blipFill>
        <p:spPr>
          <a:xfrm>
            <a:off x="761695" y="4000500"/>
            <a:ext cx="580644" cy="457200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2"/>
          <a:srcRect t="-33" b="-33"/>
          <a:stretch/>
        </p:blipFill>
        <p:spPr>
          <a:xfrm>
            <a:off x="761695" y="4572000"/>
            <a:ext cx="580644" cy="457200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3"/>
          <a:srcRect t="-33" b="-33"/>
          <a:stretch/>
        </p:blipFill>
        <p:spPr>
          <a:xfrm>
            <a:off x="761695" y="5143500"/>
            <a:ext cx="580644" cy="457200"/>
          </a:xfrm>
          <a:prstGeom prst="rect">
            <a:avLst/>
          </a:prstGeom>
        </p:spPr>
      </p:pic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4"/>
          <a:srcRect t="-49" b="-49"/>
          <a:stretch/>
        </p:blipFill>
        <p:spPr>
          <a:xfrm>
            <a:off x="6286500" y="1524305"/>
            <a:ext cx="580644" cy="476402"/>
          </a:xfrm>
          <a:prstGeom prst="rect">
            <a:avLst/>
          </a:prstGeom>
        </p:spPr>
      </p:pic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5"/>
          <a:srcRect t="-16" b="-16"/>
          <a:stretch/>
        </p:blipFill>
        <p:spPr>
          <a:xfrm>
            <a:off x="6286500" y="4048049"/>
            <a:ext cx="571500" cy="476402"/>
          </a:xfrm>
          <a:prstGeom prst="rect">
            <a:avLst/>
          </a:prstGeom>
        </p:spPr>
      </p:pic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47395" y="647395"/>
            <a:ext cx="228600" cy="228600"/>
          </a:xfrm>
          <a:prstGeom prst="rect">
            <a:avLst/>
          </a:prstGeom>
        </p:spPr>
      </p:pic>
      <p:sp>
        <p:nvSpPr>
          <p:cNvPr id="29" name="Text 12"/>
          <p:cNvSpPr txBox="1"/>
          <p:nvPr/>
        </p:nvSpPr>
        <p:spPr>
          <a:xfrm>
            <a:off x="1104595" y="629107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0" name="Text 13"/>
          <p:cNvSpPr txBox="1"/>
          <p:nvPr/>
        </p:nvSpPr>
        <p:spPr>
          <a:xfrm>
            <a:off x="1904695" y="571500"/>
            <a:ext cx="5906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바로 쓰는 실무 템플릿</a:t>
            </a:r>
            <a:endParaRPr lang="en-US" sz="2100" dirty="0"/>
          </a:p>
        </p:txBody>
      </p:sp>
      <p:sp>
        <p:nvSpPr>
          <p:cNvPr id="31" name="Text 14"/>
          <p:cNvSpPr txBox="1"/>
          <p:nvPr/>
        </p:nvSpPr>
        <p:spPr>
          <a:xfrm>
            <a:off x="1104595" y="990295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상황에 맞게 복사해서 사용할 수 있는 템플릿 예시</a:t>
            </a:r>
            <a:endParaRPr lang="en-US" sz="1200" dirty="0"/>
          </a:p>
        </p:txBody>
      </p:sp>
      <p:sp>
        <p:nvSpPr>
          <p:cNvPr id="32" name="Text 15"/>
          <p:cNvSpPr txBox="1"/>
          <p:nvPr/>
        </p:nvSpPr>
        <p:spPr>
          <a:xfrm>
            <a:off x="9105595" y="647395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</a:t>
            </a:r>
            <a:endParaRPr lang="en-US" sz="1000" dirty="0"/>
          </a:p>
        </p:txBody>
      </p:sp>
      <p:sp>
        <p:nvSpPr>
          <p:cNvPr id="33" name="Text 16"/>
          <p:cNvSpPr txBox="1"/>
          <p:nvPr/>
        </p:nvSpPr>
        <p:spPr>
          <a:xfrm>
            <a:off x="9963302" y="647395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</a:t>
            </a:r>
            <a:endParaRPr lang="en-US" sz="1000" dirty="0"/>
          </a:p>
        </p:txBody>
      </p:sp>
      <p:sp>
        <p:nvSpPr>
          <p:cNvPr id="34" name="Text 17"/>
          <p:cNvSpPr txBox="1"/>
          <p:nvPr/>
        </p:nvSpPr>
        <p:spPr>
          <a:xfrm>
            <a:off x="10820095" y="647395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</a:t>
            </a:r>
            <a:endParaRPr lang="en-US" sz="100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61695" y="1695298"/>
            <a:ext cx="228600" cy="228600"/>
          </a:xfrm>
          <a:prstGeom prst="rect">
            <a:avLst/>
          </a:prstGeom>
        </p:spPr>
      </p:pic>
      <p:sp>
        <p:nvSpPr>
          <p:cNvPr id="36" name="Text 18"/>
          <p:cNvSpPr txBox="1"/>
          <p:nvPr/>
        </p:nvSpPr>
        <p:spPr>
          <a:xfrm>
            <a:off x="1095451" y="1695298"/>
            <a:ext cx="400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제목 예시 6선</a:t>
            </a:r>
            <a:endParaRPr lang="en-US" sz="1300" dirty="0"/>
          </a:p>
        </p:txBody>
      </p:sp>
      <p:sp>
        <p:nvSpPr>
          <p:cNvPr id="37" name="Text 19"/>
          <p:cNvSpPr txBox="1"/>
          <p:nvPr/>
        </p:nvSpPr>
        <p:spPr>
          <a:xfrm>
            <a:off x="724205" y="2419502"/>
            <a:ext cx="648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</a:t>
            </a:r>
            <a:endParaRPr lang="en-US" sz="900" dirty="0"/>
          </a:p>
        </p:txBody>
      </p:sp>
      <p:sp>
        <p:nvSpPr>
          <p:cNvPr id="38" name="Text 20"/>
          <p:cNvSpPr txBox="1"/>
          <p:nvPr/>
        </p:nvSpPr>
        <p:spPr>
          <a:xfrm>
            <a:off x="1476756" y="2409444"/>
            <a:ext cx="42108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[공지]</a:t>
            </a: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전사 보안 점검 일정 안내_10/25(금)</a:t>
            </a:r>
            <a:endParaRPr lang="en-US" sz="1100" dirty="0"/>
          </a:p>
        </p:txBody>
      </p:sp>
      <p:sp>
        <p:nvSpPr>
          <p:cNvPr id="39" name="Text 21"/>
          <p:cNvSpPr txBox="1"/>
          <p:nvPr/>
        </p:nvSpPr>
        <p:spPr>
          <a:xfrm>
            <a:off x="724205" y="2991002"/>
            <a:ext cx="648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</a:t>
            </a:r>
            <a:endParaRPr lang="en-US" sz="900" dirty="0"/>
          </a:p>
        </p:txBody>
      </p:sp>
      <p:sp>
        <p:nvSpPr>
          <p:cNvPr id="40" name="Text 22"/>
          <p:cNvSpPr txBox="1"/>
          <p:nvPr/>
        </p:nvSpPr>
        <p:spPr>
          <a:xfrm>
            <a:off x="1476756" y="2980944"/>
            <a:ext cx="42108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[요청/영업]</a:t>
            </a: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A사 제안서 최종 검토 요청_10/18(수)</a:t>
            </a:r>
            <a:endParaRPr lang="en-US" sz="1100" dirty="0"/>
          </a:p>
        </p:txBody>
      </p:sp>
      <p:sp>
        <p:nvSpPr>
          <p:cNvPr id="41" name="Text 23"/>
          <p:cNvSpPr txBox="1"/>
          <p:nvPr/>
        </p:nvSpPr>
        <p:spPr>
          <a:xfrm>
            <a:off x="724205" y="3562502"/>
            <a:ext cx="648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</a:t>
            </a:r>
            <a:endParaRPr lang="en-US" sz="900" dirty="0"/>
          </a:p>
        </p:txBody>
      </p:sp>
      <p:sp>
        <p:nvSpPr>
          <p:cNvPr id="42" name="Text 24"/>
          <p:cNvSpPr txBox="1"/>
          <p:nvPr/>
        </p:nvSpPr>
        <p:spPr>
          <a:xfrm>
            <a:off x="1476756" y="3552444"/>
            <a:ext cx="4286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[보고/개발]</a:t>
            </a: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v2.4 릴리스 노트 공유 및 이슈 현황</a:t>
            </a:r>
            <a:endParaRPr lang="en-US" sz="1100" dirty="0"/>
          </a:p>
        </p:txBody>
      </p:sp>
      <p:sp>
        <p:nvSpPr>
          <p:cNvPr id="43" name="Text 25"/>
          <p:cNvSpPr txBox="1"/>
          <p:nvPr/>
        </p:nvSpPr>
        <p:spPr>
          <a:xfrm>
            <a:off x="724205" y="4134002"/>
            <a:ext cx="648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</a:t>
            </a:r>
            <a:endParaRPr lang="en-US" sz="900" dirty="0"/>
          </a:p>
        </p:txBody>
      </p:sp>
      <p:sp>
        <p:nvSpPr>
          <p:cNvPr id="44" name="Text 26"/>
          <p:cNvSpPr txBox="1"/>
          <p:nvPr/>
        </p:nvSpPr>
        <p:spPr>
          <a:xfrm>
            <a:off x="1476756" y="4123944"/>
            <a:ext cx="42108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[의견수렴/HR]</a:t>
            </a: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복지 설문 참여 안내(~11/3)</a:t>
            </a:r>
            <a:endParaRPr lang="en-US" sz="1100" dirty="0"/>
          </a:p>
        </p:txBody>
      </p:sp>
      <p:sp>
        <p:nvSpPr>
          <p:cNvPr id="45" name="Text 27"/>
          <p:cNvSpPr txBox="1"/>
          <p:nvPr/>
        </p:nvSpPr>
        <p:spPr>
          <a:xfrm>
            <a:off x="724205" y="4705502"/>
            <a:ext cx="648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</a:t>
            </a:r>
            <a:endParaRPr lang="en-US" sz="900" dirty="0"/>
          </a:p>
        </p:txBody>
      </p:sp>
      <p:sp>
        <p:nvSpPr>
          <p:cNvPr id="46" name="Text 28"/>
          <p:cNvSpPr txBox="1"/>
          <p:nvPr/>
        </p:nvSpPr>
        <p:spPr>
          <a:xfrm>
            <a:off x="1476756" y="4695444"/>
            <a:ext cx="42108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[정산/재무]</a:t>
            </a: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9월 비용 증빙 제출 요청(~10/5)</a:t>
            </a:r>
            <a:endParaRPr lang="en-US" sz="1100" dirty="0"/>
          </a:p>
        </p:txBody>
      </p:sp>
      <p:sp>
        <p:nvSpPr>
          <p:cNvPr id="47" name="Text 29"/>
          <p:cNvSpPr txBox="1"/>
          <p:nvPr/>
        </p:nvSpPr>
        <p:spPr>
          <a:xfrm>
            <a:off x="724205" y="5277002"/>
            <a:ext cx="648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미팅</a:t>
            </a:r>
            <a:endParaRPr lang="en-US" sz="900" dirty="0"/>
          </a:p>
        </p:txBody>
      </p:sp>
      <p:sp>
        <p:nvSpPr>
          <p:cNvPr id="48" name="Text 30"/>
          <p:cNvSpPr txBox="1"/>
          <p:nvPr/>
        </p:nvSpPr>
        <p:spPr>
          <a:xfrm>
            <a:off x="1476756" y="5266944"/>
            <a:ext cx="4286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[미팅]</a:t>
            </a: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10/20 파트너사 킥오프 아젠다 확정 요청</a:t>
            </a:r>
            <a:endParaRPr lang="en-US" sz="1100" dirty="0"/>
          </a:p>
        </p:txBody>
      </p:sp>
      <p:sp>
        <p:nvSpPr>
          <p:cNvPr id="49" name="Text 31"/>
          <p:cNvSpPr txBox="1"/>
          <p:nvPr/>
        </p:nvSpPr>
        <p:spPr>
          <a:xfrm>
            <a:off x="6243523" y="1666951"/>
            <a:ext cx="657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 A</a:t>
            </a:r>
            <a:endParaRPr lang="en-US" sz="1000" dirty="0"/>
          </a:p>
        </p:txBody>
      </p:sp>
      <p:sp>
        <p:nvSpPr>
          <p:cNvPr id="50" name="Text 32"/>
          <p:cNvSpPr txBox="1"/>
          <p:nvPr/>
        </p:nvSpPr>
        <p:spPr>
          <a:xfrm>
            <a:off x="7048195" y="1666951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공지형 템플릿 (정보 전달 목적)</a:t>
            </a:r>
            <a:endParaRPr lang="en-US" sz="1200" dirty="0"/>
          </a:p>
        </p:txBody>
      </p:sp>
      <p:sp>
        <p:nvSpPr>
          <p:cNvPr id="51" name="Text 33"/>
          <p:cNvSpPr txBox="1"/>
          <p:nvPr/>
        </p:nvSpPr>
        <p:spPr>
          <a:xfrm>
            <a:off x="6572707" y="2143354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결론:</a:t>
            </a: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[핵심 공지 내용 한 줄 요약]</a:t>
            </a:r>
            <a:endParaRPr lang="en-US" sz="1000" dirty="0"/>
          </a:p>
        </p:txBody>
      </p:sp>
      <p:sp>
        <p:nvSpPr>
          <p:cNvPr id="52" name="Text 34"/>
          <p:cNvSpPr txBox="1"/>
          <p:nvPr/>
        </p:nvSpPr>
        <p:spPr>
          <a:xfrm>
            <a:off x="6572707" y="2409444"/>
            <a:ext cx="4877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주요 내용:</a:t>
            </a:r>
            <a:endParaRPr lang="en-US" sz="1000" dirty="0"/>
          </a:p>
        </p:txBody>
      </p:sp>
      <p:sp>
        <p:nvSpPr>
          <p:cNvPr id="53" name="Text 35"/>
          <p:cNvSpPr txBox="1"/>
          <p:nvPr/>
        </p:nvSpPr>
        <p:spPr>
          <a:xfrm>
            <a:off x="6762902" y="2676449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상세 항목 1</a:t>
            </a:r>
            <a:endParaRPr lang="en-US" sz="900" dirty="0"/>
          </a:p>
        </p:txBody>
      </p:sp>
      <p:sp>
        <p:nvSpPr>
          <p:cNvPr id="54" name="Text 36"/>
          <p:cNvSpPr txBox="1"/>
          <p:nvPr/>
        </p:nvSpPr>
        <p:spPr>
          <a:xfrm>
            <a:off x="6762902" y="2895905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상세 항목 2</a:t>
            </a:r>
            <a:endParaRPr lang="en-US" sz="900" dirty="0"/>
          </a:p>
        </p:txBody>
      </p:sp>
      <p:sp>
        <p:nvSpPr>
          <p:cNvPr id="55" name="Text 37"/>
          <p:cNvSpPr txBox="1"/>
          <p:nvPr/>
        </p:nvSpPr>
        <p:spPr>
          <a:xfrm>
            <a:off x="6572707" y="3152851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일정/조치사항:</a:t>
            </a: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[일정 및 필요한 조치]</a:t>
            </a:r>
            <a:endParaRPr lang="en-US" sz="1000" dirty="0"/>
          </a:p>
        </p:txBody>
      </p:sp>
      <p:sp>
        <p:nvSpPr>
          <p:cNvPr id="56" name="Text 38"/>
          <p:cNvSpPr txBox="1"/>
          <p:nvPr/>
        </p:nvSpPr>
        <p:spPr>
          <a:xfrm>
            <a:off x="6572707" y="3419856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문의처:</a:t>
            </a: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[담당자 및 연락처]</a:t>
            </a:r>
            <a:endParaRPr lang="en-US" sz="1000" dirty="0"/>
          </a:p>
        </p:txBody>
      </p:sp>
      <p:sp>
        <p:nvSpPr>
          <p:cNvPr id="57" name="Text 39"/>
          <p:cNvSpPr txBox="1"/>
          <p:nvPr/>
        </p:nvSpPr>
        <p:spPr>
          <a:xfrm>
            <a:off x="6243523" y="4190695"/>
            <a:ext cx="657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 B</a:t>
            </a:r>
            <a:endParaRPr lang="en-US" sz="1000" dirty="0"/>
          </a:p>
        </p:txBody>
      </p:sp>
      <p:sp>
        <p:nvSpPr>
          <p:cNvPr id="58" name="Text 40"/>
          <p:cNvSpPr txBox="1"/>
          <p:nvPr/>
        </p:nvSpPr>
        <p:spPr>
          <a:xfrm>
            <a:off x="7048195" y="4190695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요청/의사결정형 템플릿 (Action 유도 목적)</a:t>
            </a:r>
            <a:endParaRPr lang="en-US" sz="1200" dirty="0"/>
          </a:p>
        </p:txBody>
      </p:sp>
      <p:sp>
        <p:nvSpPr>
          <p:cNvPr id="59" name="Text 41"/>
          <p:cNvSpPr txBox="1"/>
          <p:nvPr/>
        </p:nvSpPr>
        <p:spPr>
          <a:xfrm>
            <a:off x="6572707" y="4667098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결론(요청안):</a:t>
            </a: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[무엇을, 언제까지 요청하는지 명시]</a:t>
            </a:r>
            <a:endParaRPr lang="en-US" sz="1000" dirty="0"/>
          </a:p>
        </p:txBody>
      </p:sp>
      <p:sp>
        <p:nvSpPr>
          <p:cNvPr id="60" name="Text 42"/>
          <p:cNvSpPr txBox="1"/>
          <p:nvPr/>
        </p:nvSpPr>
        <p:spPr>
          <a:xfrm>
            <a:off x="6572707" y="4934102"/>
            <a:ext cx="4877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배경/대안:</a:t>
            </a:r>
            <a:endParaRPr lang="en-US" sz="1000" dirty="0"/>
          </a:p>
        </p:txBody>
      </p:sp>
      <p:sp>
        <p:nvSpPr>
          <p:cNvPr id="61" name="Text 43"/>
          <p:cNvSpPr txBox="1"/>
          <p:nvPr/>
        </p:nvSpPr>
        <p:spPr>
          <a:xfrm>
            <a:off x="6762902" y="5201107"/>
            <a:ext cx="4763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요청하게 된 배경 설명</a:t>
            </a:r>
            <a:endParaRPr lang="en-US" sz="900" dirty="0"/>
          </a:p>
        </p:txBody>
      </p:sp>
      <p:sp>
        <p:nvSpPr>
          <p:cNvPr id="62" name="Text 44"/>
          <p:cNvSpPr txBox="1"/>
          <p:nvPr/>
        </p:nvSpPr>
        <p:spPr>
          <a:xfrm>
            <a:off x="6762902" y="5419649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(필요시) 대안 A / 대안 B 제시</a:t>
            </a:r>
            <a:endParaRPr lang="en-US" sz="900" dirty="0"/>
          </a:p>
        </p:txBody>
      </p:sp>
      <p:sp>
        <p:nvSpPr>
          <p:cNvPr id="63" name="Text 45"/>
          <p:cNvSpPr txBox="1"/>
          <p:nvPr/>
        </p:nvSpPr>
        <p:spPr>
          <a:xfrm>
            <a:off x="6572707" y="5676595"/>
            <a:ext cx="4877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Action Item:</a:t>
            </a: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[구체적인 담당자 지정 및 기한 (Who/When/What)]</a:t>
            </a:r>
            <a:endParaRPr lang="en-US" sz="1000" dirty="0"/>
          </a:p>
        </p:txBody>
      </p:sp>
      <p:sp>
        <p:nvSpPr>
          <p:cNvPr id="64" name="Text 46"/>
          <p:cNvSpPr txBox="1"/>
          <p:nvPr/>
        </p:nvSpPr>
        <p:spPr>
          <a:xfrm>
            <a:off x="6572707" y="5943600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첨부자료:</a:t>
            </a: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[파일명 기재]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1348</Words>
  <Application>Microsoft Office PowerPoint</Application>
  <PresentationFormat>와이드스크린</PresentationFormat>
  <Paragraphs>242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Nanum Pen Script</vt:lpstr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정선웅</cp:lastModifiedBy>
  <cp:revision>3</cp:revision>
  <dcterms:created xsi:type="dcterms:W3CDTF">2026-04-14T08:18:49Z</dcterms:created>
  <dcterms:modified xsi:type="dcterms:W3CDTF">2026-04-14T08:37:23Z</dcterms:modified>
</cp:coreProperties>
</file>